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07df74a5c14830" /><Relationship Type="http://schemas.openxmlformats.org/officeDocument/2006/relationships/extended-properties" Target="/docProps/app.xml" Id="R250bdb87970a4970" /><Relationship Type="http://schemas.openxmlformats.org/officeDocument/2006/relationships/officeDocument" Target="/ppt/presentation.xml" Id="R30ee237170b94497" /></Relationships>
</file>

<file path=ppt/presentation.xml><?xml version="1.0" encoding="utf-8"?>
<p:presentation xmlns:p="http://schemas.openxmlformats.org/presentationml/2006/main">
  <p:sldMasterIdLst>
    <p:sldMasterId xmlns:r="http://schemas.openxmlformats.org/officeDocument/2006/relationships" id="2147483648" r:id="R20fbde52b0674beb"/>
  </p:sldMasterIdLst>
  <p:notesMasterIdLst>
    <p:notesMasterId xmlns:r="http://schemas.openxmlformats.org/officeDocument/2006/relationships" r:id="R25415f68529e44a9"/>
  </p:notesMasterIdLst>
  <p:sldIdLst>
    <p:sldId xmlns:r="http://schemas.openxmlformats.org/officeDocument/2006/relationships" id="256" r:id="R154905b2e6fc4ec8"/>
    <p:sldId xmlns:r="http://schemas.openxmlformats.org/officeDocument/2006/relationships" id="257" r:id="R948e5aeff8b14f52"/>
    <p:sldId xmlns:r="http://schemas.openxmlformats.org/officeDocument/2006/relationships" id="258" r:id="Rc0fdce6bd9844a1a"/>
    <p:sldId xmlns:r="http://schemas.openxmlformats.org/officeDocument/2006/relationships" id="259" r:id="Ra4f7e45d8b1a4a3d"/>
    <p:sldId xmlns:r="http://schemas.openxmlformats.org/officeDocument/2006/relationships" id="260" r:id="Rd5d4321e1a824c55"/>
    <p:sldId xmlns:r="http://schemas.openxmlformats.org/officeDocument/2006/relationships" id="261" r:id="R57a8cbd56e4c4916"/>
    <p:sldId xmlns:r="http://schemas.openxmlformats.org/officeDocument/2006/relationships" id="262" r:id="R4e09f3cc7b324b40"/>
    <p:sldId xmlns:r="http://schemas.openxmlformats.org/officeDocument/2006/relationships" id="263" r:id="Rff4c2c50dc6e4c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c7b3865ebc479e" /><Relationship Type="http://schemas.openxmlformats.org/officeDocument/2006/relationships/slideMaster" Target="/ppt/slideMasters/slideMaster1.xml" Id="R20fbde52b0674beb" /><Relationship Type="http://schemas.openxmlformats.org/officeDocument/2006/relationships/notesMaster" Target="/ppt/notesMasters/notesMaster1.xml" Id="R25415f68529e44a9" /><Relationship Type="http://schemas.openxmlformats.org/officeDocument/2006/relationships/presProps" Target="/ppt/presProps.xml" Id="R58df383d0923470f" /><Relationship Type="http://schemas.openxmlformats.org/officeDocument/2006/relationships/tableStyles" Target="/ppt/tableStyles.xml" Id="R4039ed1e5bf24a42" /><Relationship Type="http://schemas.openxmlformats.org/officeDocument/2006/relationships/slide" Target="/ppt/slides/slide1.xml" Id="R154905b2e6fc4ec8" /><Relationship Type="http://schemas.openxmlformats.org/officeDocument/2006/relationships/slide" Target="/ppt/slides/slide2.xml" Id="R948e5aeff8b14f52" /><Relationship Type="http://schemas.openxmlformats.org/officeDocument/2006/relationships/slide" Target="/ppt/slides/slide3.xml" Id="Rc0fdce6bd9844a1a" /><Relationship Type="http://schemas.openxmlformats.org/officeDocument/2006/relationships/slide" Target="/ppt/slides/slide4.xml" Id="Ra4f7e45d8b1a4a3d" /><Relationship Type="http://schemas.openxmlformats.org/officeDocument/2006/relationships/slide" Target="/ppt/slides/slide5.xml" Id="Rd5d4321e1a824c55" /><Relationship Type="http://schemas.openxmlformats.org/officeDocument/2006/relationships/slide" Target="/ppt/slides/slide6.xml" Id="R57a8cbd56e4c4916" /><Relationship Type="http://schemas.openxmlformats.org/officeDocument/2006/relationships/slide" Target="/ppt/slides/slide7.xml" Id="R4e09f3cc7b324b40" /><Relationship Type="http://schemas.openxmlformats.org/officeDocument/2006/relationships/slide" Target="/ppt/slides/slide8.xml" Id="Rff4c2c50dc6e4c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611fa720a4b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7d19499ca84d0f" /><Relationship Type="http://schemas.openxmlformats.org/officeDocument/2006/relationships/notesMaster" Target="/ppt/notesMasters/notesMaster1.xml" Id="Rb74cd278705748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4d7c3991084eb9" /><Relationship Type="http://schemas.openxmlformats.org/officeDocument/2006/relationships/notesMaster" Target="/ppt/notesMasters/notesMaster1.xml" Id="Rec7da8e1fb7b4a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aefd032a0648e4" /><Relationship Type="http://schemas.openxmlformats.org/officeDocument/2006/relationships/notesMaster" Target="/ppt/notesMasters/notesMaster1.xml" Id="R25b1716a20114a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f60feeb60e43bb" /><Relationship Type="http://schemas.openxmlformats.org/officeDocument/2006/relationships/notesMaster" Target="/ppt/notesMasters/notesMaster1.xml" Id="R6987adfcc6fe41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86102997ea4d6f" /><Relationship Type="http://schemas.openxmlformats.org/officeDocument/2006/relationships/notesMaster" Target="/ppt/notesMasters/notesMaster1.xml" Id="Red0f103254dd4c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c44b2ca3a14561" /><Relationship Type="http://schemas.openxmlformats.org/officeDocument/2006/relationships/notesMaster" Target="/ppt/notesMasters/notesMaster1.xml" Id="R9f2a53a393b947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7a3c9b9dfc4a3b" /><Relationship Type="http://schemas.openxmlformats.org/officeDocument/2006/relationships/notesMaster" Target="/ppt/notesMasters/notesMaster1.xml" Id="R649fb59802404a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604d29e91c414e" /><Relationship Type="http://schemas.openxmlformats.org/officeDocument/2006/relationships/notesMaster" Target="/ppt/notesMasters/notesMaster1.xml" Id="R88cab3cbb03d42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 gebruik een fictieve bouwgroep om een herkenbaar operationeel probleem te onderzoeken. Materiaal wordt uitgeleend en tussen werven verplaatst, terwijl de registratie achterblijft. Schade wordt via losse berichten opgevolgd. Mijn centrale vraag is: welke afspraken en informatie ontbreken om dit betrouwbaar te organiseren? Deze case is onafhankelijk portfolio-werk. De workshops en bedrijfsgegevens zijn gesimuleerd.</a:t>
            </a:r>
          </a:p>
          <a:p xmlns:a="http://schemas.openxmlformats.org/drawingml/2006/main">
            <a:r>
              <a:t/>
            </a:r>
          </a:p>
          <a:p xmlns:a="http://schemas.openxmlformats.org/drawingml/2006/main">
            <a:r>
              <a:t>Sources:</a:t>
            </a:r>
          </a:p>
          <a:p xmlns:a="http://schemas.openxmlformats.org/drawingml/2006/main">
            <a:r>
              <a:t>https://github.com/phlppgdfry/buildflow-digital-transformation/blob/main/01-discovery/business-context.md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 ontwierp de stakeholderaanpak en een fictieve workshop. De magazijnmedewerker wil weinig extra registratie. Finance wil controle op kosten. IT wil een onderhoudbare oplossing. Met een proceswalkthrough en Five Whys vertaal ik materiaal raakt zoek naar een concrete hypothese: directe transfers missen een bevestigde ontvangst. De traceability matrix koppelt die behoefte vervolgens aan een regel, component, test en KPI. In een echt project zou ik die hypothese eerst met gebruikers en handoff-data toetsen.</a:t>
            </a:r>
          </a:p>
          <a:p xmlns:a="http://schemas.openxmlformats.org/drawingml/2006/main">
            <a:r>
              <a:t/>
            </a:r>
          </a:p>
          <a:p xmlns:a="http://schemas.openxmlformats.org/drawingml/2006/main">
            <a:r>
              <a:t>Sources:</a:t>
            </a:r>
          </a:p>
          <a:p xmlns:a="http://schemas.openxmlformats.org/drawingml/2006/main">
            <a:r>
              <a:t>https://github.com/phlppgdfry/buildflow-digital-transformation/blob/main/01-discovery/workshop-notes-example.md</a:t>
            </a:r>
          </a:p>
          <a:p xmlns:a="http://schemas.openxmlformats.org/drawingml/2006/main">
            <a:r>
              <a:t>https://github.com/phlppgdfry/buildflow-digital-transformation/blob/main/02-requirements/requirements-traceability-matrix.md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Bij een beschadigde retour komen beide cases samen. Het magazijn inspecteert het materiaal. Een schone retour maakt het opnieuw beschikbaar. Schade houdt het buiten circulatie en creëert een gekoppelde Draft claim. Ik scheid de waarneming van schade van aansprakelijkheid: de laatste gebruiker is niet automatisch schuldig. Het BPMN-model toont wie handelt, waar een beslissing valt en welke automatisering helpt. De volledige workflow en uitzonderingen blijven in de bronrepository beschikbaar.</a:t>
            </a:r>
          </a:p>
          <a:p xmlns:a="http://schemas.openxmlformats.org/drawingml/2006/main">
            <a:r>
              <a:t/>
            </a:r>
          </a:p>
          <a:p xmlns:a="http://schemas.openxmlformats.org/drawingml/2006/main">
            <a:r>
              <a:t>Sources:</a:t>
            </a:r>
          </a:p>
          <a:p xmlns:a="http://schemas.openxmlformats.org/drawingml/2006/main">
            <a:r>
              <a:t>https://github.com/phlppgdfry/buildflow-digital-transformation/blob/main/03-processes/bpmn/inventory-return.bpmn</a:t>
            </a:r>
          </a:p>
          <a:p xmlns:a="http://schemas.openxmlformats.org/drawingml/2006/main">
            <a:r>
              <a:t>https://github.com/phlppgdfry/buildflow-digital-transformation/blob/main/03-processes/damage-claims/to-be.md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Het doelontwerp sluit aan op de Microsoft-omgeving: Power Apps voor gebruikers, Dataverse voor operationele gegevens en Power Automate voor menselijke opvolging. Transactieregels zorgen dat status en historiek samen veranderen. Het ERP blijft eigenaar van financiële stamdata en facturen. Een adapter verwerkt goedgekeurde herstelverzoeken asynchroon. De lokale API en publieke browserdemo maken dit tastbaar. Ze zijn geen gedeployde Power Platform-oplossing of echte ERP-koppeling.</a:t>
            </a:r>
          </a:p>
          <a:p xmlns:a="http://schemas.openxmlformats.org/drawingml/2006/main">
            <a:r>
              <a:t/>
            </a:r>
          </a:p>
          <a:p xmlns:a="http://schemas.openxmlformats.org/drawingml/2006/main">
            <a:r>
              <a:t>Sources:</a:t>
            </a:r>
          </a:p>
          <a:p xmlns:a="http://schemas.openxmlformats.org/drawingml/2006/main">
            <a:r>
              <a:t>https://github.com/phlppgdfry/buildflow-digital-transformation/blob/main/04-solution-design/architecture.md</a:t>
            </a:r>
          </a:p>
          <a:p xmlns:a="http://schemas.openxmlformats.org/drawingml/2006/main">
            <a:r>
              <a:t>https://github.com/phlppgdfry/buildflow-digital-transformation/blob/main/05-integrations/erp-integration.md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Automatisering helpt bij validatie, taakroutering en herinneringen. Boven vijfduizend euro vraagt deze fictieve delegatieregel een extra Finance-beslissing. De grens zou ik bij een echte klant toetsen. AI mag feiten structureren en ontbrekende informatie aanwijzen. Een mens accepteert of verwerpt het voorstel. AI mag geen aansprakelijkheid bepalen of kosten boeken. De live assistent gebruikt een deterministische simulatie. Een echte provider vraagt eerst privacy-, kwaliteits- en waardevalidatie.</a:t>
            </a:r>
          </a:p>
          <a:p xmlns:a="http://schemas.openxmlformats.org/drawingml/2006/main">
            <a:r>
              <a:t/>
            </a:r>
          </a:p>
          <a:p xmlns:a="http://schemas.openxmlformats.org/drawingml/2006/main">
            <a:r>
              <a:t>Sources:</a:t>
            </a:r>
          </a:p>
          <a:p xmlns:a="http://schemas.openxmlformats.org/drawingml/2006/main">
            <a:r>
              <a:t>https://github.com/phlppgdfry/buildflow-digital-transformation/blob/main/06-automation/power-automate/02-high-value.md</a:t>
            </a:r>
          </a:p>
          <a:p xmlns:a="http://schemas.openxmlformats.org/drawingml/2006/main">
            <a:r>
              <a:t>https://github.com/phlppgdfry/buildflow-digital-transformation/blob/main/07-ai/ai-opportunity-assessment.md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 zou de invoering begrenzen tot één magazijn en twee representatieve werven. Vooraf valideer ik data, rollen, ERP-capaciteit en gebruikstaken. UAT behandelt ook dubbele checkout, ontbrekende evidence en storingen. Er zijn plannen voor migratie, training, rollback en hypercare. Een ervaren operator betrek ik bij het ontwerp en vergelijk taakduur in de pilot. Business, Warehouse, Finance en IT hebben eigen acceptatieverantwoordelijkheden. De portfolio-UAT is voorbereid, niet door echte eindgebruikers uitgevoerd.</a:t>
            </a:r>
          </a:p>
          <a:p xmlns:a="http://schemas.openxmlformats.org/drawingml/2006/main">
            <a:r>
              <a:t/>
            </a:r>
          </a:p>
          <a:p xmlns:a="http://schemas.openxmlformats.org/drawingml/2006/main">
            <a:r>
              <a:t>Sources:</a:t>
            </a:r>
          </a:p>
          <a:p xmlns:a="http://schemas.openxmlformats.org/drawingml/2006/main">
            <a:r>
              <a:t>https://github.com/phlppgdfry/buildflow-digital-transformation/blob/main/09-testing/uat-scenarios.md</a:t>
            </a:r>
          </a:p>
          <a:p xmlns:a="http://schemas.openxmlformats.org/drawingml/2006/main">
            <a:r>
              <a:t>https://github.com/phlppgdfry/buildflow-digital-transformation/blob/main/10-implementation/rollout-plan.md</a:t>
            </a:r>
          </a:p>
          <a:p xmlns:a="http://schemas.openxmlformats.org/drawingml/2006/main">
            <a:r>
              <a:t>https://github.com/phlppgdfry/buildflow-digital-transformation/blob/main/11-change-management/adoption-plan.md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 meet locatiebetrouwbaarheid, claimdoorlooptijd en registratie tijdens dezelfde shift. De getoonde baselines en targets zijn illustratief. De businesscase houdt vermeden aankopen apart van vrijgekomen zoektijd en administratie. Die tijd is geen automatische cashbesparing. Bij een echt project verzamelt de baseline representatieve samples, en vergelijken we op dertig, zestig en negentig dagen. Projectmix en seizoenen kunnen de vergelijking beïnvloeden. Ik rapporteer onzekerheid en gemiste doelen mee.</a:t>
            </a:r>
          </a:p>
          <a:p xmlns:a="http://schemas.openxmlformats.org/drawingml/2006/main">
            <a:r>
              <a:t/>
            </a:r>
          </a:p>
          <a:p xmlns:a="http://schemas.openxmlformats.org/drawingml/2006/main">
            <a:r>
              <a:t>Sources:</a:t>
            </a:r>
          </a:p>
          <a:p xmlns:a="http://schemas.openxmlformats.org/drawingml/2006/main">
            <a:r>
              <a:t>https://github.com/phlppgdfry/buildflow-digital-transformation/blob/main/13-kpis/target-kpis.md</a:t>
            </a:r>
          </a:p>
          <a:p xmlns:a="http://schemas.openxmlformats.org/drawingml/2006/main">
            <a:r>
              <a:t>https://github.com/phlppgdfry/buildflow-digital-transformation/blob/main/13-kpis/business-case.md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Deze case laat zien hoe ik een onduidelijk probleem kan structureren en bespreekbaar maken. Ik verbind stakeholderbehoeften met een proces, technische grenzen, tests en invoeringskeuzes. Wat ik kan tonen is analyse- en ontwerpbewijs plus een getest prototype. Een echte workshop, tenantimplementatie, ERP-sandbox en productie-uitrol zijn nog geen bewezen praktijkervaring. In een gesprek kan ik iedere ontwerpkeuze verdedigen en aangeven welke informatie de beslissing bij een echte klant zou veranderen.</a:t>
            </a:r>
          </a:p>
          <a:p xmlns:a="http://schemas.openxmlformats.org/drawingml/2006/main">
            <a:r>
              <a:t/>
            </a:r>
          </a:p>
          <a:p xmlns:a="http://schemas.openxmlformats.org/drawingml/2006/main">
            <a:r>
              <a:t>Sources:</a:t>
            </a:r>
          </a:p>
          <a:p xmlns:a="http://schemas.openxmlformats.org/drawingml/2006/main">
            <a:r>
              <a:t>https://github.com/phlppgdfry/buildflow-digital-transformation/blob/main/application-kit/role-requirement-matrix.md</a:t>
            </a:r>
          </a:p>
          <a:p xmlns:a="http://schemas.openxmlformats.org/drawingml/2006/main">
            <a:r>
              <a:t>https://github.com/phlppgdfry/buildflow-digital-transformation/blob/main/04-solution-design/decision-log.md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1894497d014f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2be5251959465a" /><Relationship Type="http://schemas.openxmlformats.org/officeDocument/2006/relationships/slideLayout" Target="/ppt/slideLayouts/slideLayout1.xml" Id="Re8511b89b77a45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511b89b77a45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933e43733b486a" /><Relationship Type="http://schemas.openxmlformats.org/officeDocument/2006/relationships/notesSlide" Target="/ppt/notesSlides/notesSlide1.xml" Id="R4f68db5015364e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da273a4c7841a7" /><Relationship Type="http://schemas.openxmlformats.org/officeDocument/2006/relationships/notesSlide" Target="/ppt/notesSlides/notesSlide2.xml" Id="R479d900494844e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7983a6f3c247a1" /><Relationship Type="http://schemas.openxmlformats.org/officeDocument/2006/relationships/notesSlide" Target="/ppt/notesSlides/notesSlide3.xml" Id="R285642c086e441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7c3cfd904d4089" /><Relationship Type="http://schemas.openxmlformats.org/officeDocument/2006/relationships/notesSlide" Target="/ppt/notesSlides/notesSlide4.xml" Id="R581428c0dbd04f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bfb9e1edaf4dab" /><Relationship Type="http://schemas.openxmlformats.org/officeDocument/2006/relationships/notesSlide" Target="/ppt/notesSlides/notesSlide5.xml" Id="R7d8af928ce6f46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18ae11f2584b1d" /><Relationship Type="http://schemas.openxmlformats.org/officeDocument/2006/relationships/notesSlide" Target="/ppt/notesSlides/notesSlide6.xml" Id="R1c20e1688c114e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6018fa4d804478" /><Relationship Type="http://schemas.openxmlformats.org/officeDocument/2006/relationships/notesSlide" Target="/ppt/notesSlides/notesSlide7.xml" Id="R6113323b51fe42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2a81cd84be4ee4" /><Relationship Type="http://schemas.openxmlformats.org/officeDocument/2006/relationships/notesSlide" Target="/ppt/notesSlides/notesSlide8.xml" Id="R75a2cdfbd13c48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UILDFLOW  /  INDEPENDENT PORTFOLIO">
            <a:extLst xmlns:a="http://schemas.openxmlformats.org/drawingml/2006/main">
              <a:ext uri="{FF2B5EF4-FFF2-40B4-BE49-F238E27FC236}">
                <a16:creationId xmlns:a16="http://schemas.microsoft.com/office/drawing/2014/main" id="{92FAE6B5-A14B-426E-B039-6162F87ED0A5}"/>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The business problem">
            <a:extLst xmlns:a="http://schemas.openxmlformats.org/drawingml/2006/main">
              <a:ext uri="{FF2B5EF4-FFF2-40B4-BE49-F238E27FC236}">
                <a16:creationId xmlns:a16="http://schemas.microsoft.com/office/drawing/2014/main" id="{51FB0770-D1A9-47E0-BD0E-4A27513E0A08}"/>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The business problem</a:t>
            </a:r>
          </a:p>
        </p:txBody>
      </p:sp>
      <p:sp>
        <p:nvSpPr>
          <p:cNvPr id="3" name="Custody and claim ownership are fra">
            <a:extLst xmlns:a="http://schemas.openxmlformats.org/drawingml/2006/main">
              <a:ext uri="{FF2B5EF4-FFF2-40B4-BE49-F238E27FC236}">
                <a16:creationId xmlns:a16="http://schemas.microsoft.com/office/drawing/2014/main" id="{EB9E0373-2CC4-4CBE-A824-C88F1F8992DC}"/>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Custody and claim ownership are fragmented.</a:t>
            </a:r>
          </a:p>
        </p:txBody>
      </p:sp>
      <p:sp>
        <p:nvSpPr>
          <p:cNvPr id="4" name="INVENTORY">
            <a:extLst xmlns:a="http://schemas.openxmlformats.org/drawingml/2006/main">
              <a:ext uri="{FF2B5EF4-FFF2-40B4-BE49-F238E27FC236}">
                <a16:creationId xmlns:a16="http://schemas.microsoft.com/office/drawing/2014/main" id="{251A6F96-2908-47EA-AB8E-99F79B485B12}"/>
              </a:ext>
            </a:extLst>
          </p:cNvPr>
          <p:cNvSpPr>
            <a:spLocks xmlns:a="http://schemas.openxmlformats.org/drawingml/2006/main" noGrp="1"/>
          </p:cNvSpPr>
          <p:nvPr/>
        </p:nvSpPr>
        <p:spPr>
          <a:xfrm xmlns:a="http://schemas.openxmlformats.org/drawingml/2006/main">
            <a:off x="685800" y="22860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INVENTORY</a:t>
            </a:r>
          </a:p>
        </p:txBody>
      </p:sp>
      <p:sp>
        <p:nvSpPr>
          <p:cNvPr id="5" name="Spreadsheets → unclear custody">
            <a:extLst xmlns:a="http://schemas.openxmlformats.org/drawingml/2006/main">
              <a:ext uri="{FF2B5EF4-FFF2-40B4-BE49-F238E27FC236}">
                <a16:creationId xmlns:a16="http://schemas.microsoft.com/office/drawing/2014/main" id="{18A13109-A258-4DC3-ACC1-57F69DE5C473}"/>
              </a:ext>
            </a:extLst>
          </p:cNvPr>
          <p:cNvSpPr>
            <a:spLocks xmlns:a="http://schemas.openxmlformats.org/drawingml/2006/main" noGrp="1"/>
          </p:cNvSpPr>
          <p:nvPr/>
        </p:nvSpPr>
        <p:spPr>
          <a:xfrm xmlns:a="http://schemas.openxmlformats.org/drawingml/2006/main">
            <a:off x="685800" y="276225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536"/>
                </a:solidFill>
                <a:latin typeface="Arial"/>
                <a:ea typeface="Arial"/>
                <a:cs typeface="Arial"/>
              </a:defRPr>
            </a:pPr>
            <a:r>
              <a:rPr sz="2250" b="1">
                <a:solidFill>
                  <a:srgbClr val="102536"/>
                </a:solidFill>
                <a:latin typeface="Arial"/>
                <a:ea typeface="Arial"/>
                <a:cs typeface="Arial"/>
              </a:rPr>
              <a:t>Spreadsheets → unclear custody</a:t>
            </a:r>
          </a:p>
        </p:txBody>
      </p:sp>
      <p:sp>
        <p:nvSpPr>
          <p:cNvPr id="6" name="Search time and duplicate ordering">
            <a:extLst xmlns:a="http://schemas.openxmlformats.org/drawingml/2006/main">
              <a:ext uri="{FF2B5EF4-FFF2-40B4-BE49-F238E27FC236}">
                <a16:creationId xmlns:a16="http://schemas.microsoft.com/office/drawing/2014/main" id="{DA2F654A-A06B-49D2-98D0-A4D605ADB088}"/>
              </a:ext>
            </a:extLst>
          </p:cNvPr>
          <p:cNvSpPr>
            <a:spLocks xmlns:a="http://schemas.openxmlformats.org/drawingml/2006/main" noGrp="1"/>
          </p:cNvSpPr>
          <p:nvPr/>
        </p:nvSpPr>
        <p:spPr>
          <a:xfrm xmlns:a="http://schemas.openxmlformats.org/drawingml/2006/main">
            <a:off x="685800" y="38100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536"/>
                </a:solidFill>
                <a:latin typeface="Arial"/>
                <a:ea typeface="Arial"/>
                <a:cs typeface="Arial"/>
              </a:defRPr>
            </a:pPr>
            <a:r>
              <a:rPr sz="1950" b="0">
                <a:solidFill>
                  <a:srgbClr val="102536"/>
                </a:solidFill>
                <a:latin typeface="Arial"/>
                <a:ea typeface="Arial"/>
                <a:cs typeface="Arial"/>
              </a:rPr>
              <a:t>Search time and duplicate ordering</a:t>
            </a:r>
          </a:p>
        </p:txBody>
      </p:sp>
      <p:sp>
        <p:nvSpPr>
          <p:cNvPr id="7" name="DAMAGE CLAIMS">
            <a:extLst xmlns:a="http://schemas.openxmlformats.org/drawingml/2006/main">
              <a:ext uri="{FF2B5EF4-FFF2-40B4-BE49-F238E27FC236}">
                <a16:creationId xmlns:a16="http://schemas.microsoft.com/office/drawing/2014/main" id="{C061D783-FC00-4858-A630-3362B2C13F44}"/>
              </a:ext>
            </a:extLst>
          </p:cNvPr>
          <p:cNvSpPr>
            <a:spLocks xmlns:a="http://schemas.openxmlformats.org/drawingml/2006/main" noGrp="1"/>
          </p:cNvSpPr>
          <p:nvPr/>
        </p:nvSpPr>
        <p:spPr>
          <a:xfrm xmlns:a="http://schemas.openxmlformats.org/drawingml/2006/main">
            <a:off x="6477000" y="2286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DAMAGE CLAIMS</a:t>
            </a:r>
          </a:p>
        </p:txBody>
      </p:sp>
      <p:sp>
        <p:nvSpPr>
          <p:cNvPr id="8" name="Messages → unclear ownership">
            <a:extLst xmlns:a="http://schemas.openxmlformats.org/drawingml/2006/main">
              <a:ext uri="{FF2B5EF4-FFF2-40B4-BE49-F238E27FC236}">
                <a16:creationId xmlns:a16="http://schemas.microsoft.com/office/drawing/2014/main" id="{A06BCFC7-D71F-4377-9B98-B011FB8FF76A}"/>
              </a:ext>
            </a:extLst>
          </p:cNvPr>
          <p:cNvSpPr>
            <a:spLocks xmlns:a="http://schemas.openxmlformats.org/drawingml/2006/main" noGrp="1"/>
          </p:cNvSpPr>
          <p:nvPr/>
        </p:nvSpPr>
        <p:spPr>
          <a:xfrm xmlns:a="http://schemas.openxmlformats.org/drawingml/2006/main">
            <a:off x="6477000" y="27622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536"/>
                </a:solidFill>
                <a:latin typeface="Arial"/>
                <a:ea typeface="Arial"/>
                <a:cs typeface="Arial"/>
              </a:defRPr>
            </a:pPr>
            <a:r>
              <a:rPr sz="2250" b="1">
                <a:solidFill>
                  <a:srgbClr val="102536"/>
                </a:solidFill>
                <a:latin typeface="Arial"/>
                <a:ea typeface="Arial"/>
                <a:cs typeface="Arial"/>
              </a:rPr>
              <a:t>Messages → unclear ownership</a:t>
            </a:r>
          </a:p>
        </p:txBody>
      </p:sp>
      <p:sp>
        <p:nvSpPr>
          <p:cNvPr id="9" name="Chasing evidence and repair status">
            <a:extLst xmlns:a="http://schemas.openxmlformats.org/drawingml/2006/main">
              <a:ext uri="{FF2B5EF4-FFF2-40B4-BE49-F238E27FC236}">
                <a16:creationId xmlns:a16="http://schemas.microsoft.com/office/drawing/2014/main" id="{40C29831-8758-49B1-9C09-C1ED96CA4103}"/>
              </a:ext>
            </a:extLst>
          </p:cNvPr>
          <p:cNvSpPr>
            <a:spLocks xmlns:a="http://schemas.openxmlformats.org/drawingml/2006/main" noGrp="1"/>
          </p:cNvSpPr>
          <p:nvPr/>
        </p:nvSpPr>
        <p:spPr>
          <a:xfrm xmlns:a="http://schemas.openxmlformats.org/drawingml/2006/main">
            <a:off x="6477000" y="38100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536"/>
                </a:solidFill>
                <a:latin typeface="Arial"/>
                <a:ea typeface="Arial"/>
                <a:cs typeface="Arial"/>
              </a:defRPr>
            </a:pPr>
            <a:r>
              <a:rPr sz="1950" b="0">
                <a:solidFill>
                  <a:srgbClr val="102536"/>
                </a:solidFill>
                <a:latin typeface="Arial"/>
                <a:ea typeface="Arial"/>
                <a:cs typeface="Arial"/>
              </a:rPr>
              <a:t>Chasing evidence and repair status</a:t>
            </a:r>
          </a:p>
        </p:txBody>
      </p:sp>
      <p:sp>
        <p:nvSpPr>
          <p:cNvPr id="10" name="Design documented · Prototype simul">
            <a:extLst xmlns:a="http://schemas.openxmlformats.org/drawingml/2006/main">
              <a:ext uri="{FF2B5EF4-FFF2-40B4-BE49-F238E27FC236}">
                <a16:creationId xmlns:a16="http://schemas.microsoft.com/office/drawing/2014/main" id="{F2A4890C-ADE1-44C2-8B51-A8DABC2171DB}"/>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11" name="01">
            <a:extLst xmlns:a="http://schemas.openxmlformats.org/drawingml/2006/main">
              <a:ext uri="{FF2B5EF4-FFF2-40B4-BE49-F238E27FC236}">
                <a16:creationId xmlns:a16="http://schemas.microsoft.com/office/drawing/2014/main" id="{981C5436-9AA7-4E8A-8C92-0792D5383C30}"/>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01</a:t>
            </a:r>
          </a:p>
        </p:txBody>
      </p:sp>
    </p:spTree>
    <p:extLst>
      <p:ext uri="{BB962C8B-B14F-4D97-AF65-F5344CB8AC3E}">
        <p14:creationId xmlns:p14="http://schemas.microsoft.com/office/powerpoint/2010/main" val="16450790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UILDFLOW  /  INDEPENDENT PORTFOLIO">
            <a:extLst xmlns:a="http://schemas.openxmlformats.org/drawingml/2006/main">
              <a:ext uri="{FF2B5EF4-FFF2-40B4-BE49-F238E27FC236}">
                <a16:creationId xmlns:a16="http://schemas.microsoft.com/office/drawing/2014/main" id="{35493B4F-DDB8-46C8-B9E3-8B85869588A6}"/>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How I approached it">
            <a:extLst xmlns:a="http://schemas.openxmlformats.org/drawingml/2006/main">
              <a:ext uri="{FF2B5EF4-FFF2-40B4-BE49-F238E27FC236}">
                <a16:creationId xmlns:a16="http://schemas.microsoft.com/office/drawing/2014/main" id="{E4ABD887-A4A1-4387-938C-ADCCE85226D5}"/>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How I approached it</a:t>
            </a:r>
          </a:p>
        </p:txBody>
      </p:sp>
      <p:sp>
        <p:nvSpPr>
          <p:cNvPr id="3" name="Stakeholder needs become testable p">
            <a:extLst xmlns:a="http://schemas.openxmlformats.org/drawingml/2006/main">
              <a:ext uri="{FF2B5EF4-FFF2-40B4-BE49-F238E27FC236}">
                <a16:creationId xmlns:a16="http://schemas.microsoft.com/office/drawing/2014/main" id="{7A940763-822F-45FA-86EC-EB597025F11A}"/>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Stakeholder needs become testable process rules.</a:t>
            </a:r>
          </a:p>
        </p:txBody>
      </p:sp>
      <p:sp>
        <p:nvSpPr>
          <p:cNvPr id="4" name="Warehouse + Sites">
            <a:extLst xmlns:a="http://schemas.openxmlformats.org/drawingml/2006/main">
              <a:ext uri="{FF2B5EF4-FFF2-40B4-BE49-F238E27FC236}">
                <a16:creationId xmlns:a16="http://schemas.microsoft.com/office/drawing/2014/main" id="{EE577807-E1CB-46EF-B3A9-2AD5E4F4FB51}"/>
              </a:ext>
            </a:extLst>
          </p:cNvPr>
          <p:cNvSpPr>
            <a:spLocks xmlns:a="http://schemas.openxmlformats.org/drawingml/2006/main" noGrp="1"/>
          </p:cNvSpPr>
          <p:nvPr/>
        </p:nvSpPr>
        <p:spPr>
          <a:xfrm xmlns:a="http://schemas.openxmlformats.org/drawingml/2006/main">
            <a:off x="685800" y="2286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Warehouse + Sites</a:t>
            </a:r>
          </a:p>
        </p:txBody>
      </p:sp>
      <p:sp>
        <p:nvSpPr>
          <p:cNvPr id="5" name="Finance + IT">
            <a:extLst xmlns:a="http://schemas.openxmlformats.org/drawingml/2006/main">
              <a:ext uri="{FF2B5EF4-FFF2-40B4-BE49-F238E27FC236}">
                <a16:creationId xmlns:a16="http://schemas.microsoft.com/office/drawing/2014/main" id="{7E7EBD99-4061-48B3-A2E5-DFD2A33DAADA}"/>
              </a:ext>
            </a:extLst>
          </p:cNvPr>
          <p:cNvSpPr>
            <a:spLocks xmlns:a="http://schemas.openxmlformats.org/drawingml/2006/main" noGrp="1"/>
          </p:cNvSpPr>
          <p:nvPr/>
        </p:nvSpPr>
        <p:spPr>
          <a:xfrm xmlns:a="http://schemas.openxmlformats.org/drawingml/2006/main">
            <a:off x="4381500" y="2286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Finance + IT</a:t>
            </a:r>
          </a:p>
        </p:txBody>
      </p:sp>
      <p:sp>
        <p:nvSpPr>
          <p:cNvPr id="6" name="Operations">
            <a:extLst xmlns:a="http://schemas.openxmlformats.org/drawingml/2006/main">
              <a:ext uri="{FF2B5EF4-FFF2-40B4-BE49-F238E27FC236}">
                <a16:creationId xmlns:a16="http://schemas.microsoft.com/office/drawing/2014/main" id="{6EE70E68-B10B-419D-AB5A-793A075D0FFB}"/>
              </a:ext>
            </a:extLst>
          </p:cNvPr>
          <p:cNvSpPr>
            <a:spLocks xmlns:a="http://schemas.openxmlformats.org/drawingml/2006/main" noGrp="1"/>
          </p:cNvSpPr>
          <p:nvPr/>
        </p:nvSpPr>
        <p:spPr>
          <a:xfrm xmlns:a="http://schemas.openxmlformats.org/drawingml/2006/main">
            <a:off x="8077200" y="2286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Operations</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411480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81050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9" name="Walk the handoff">
            <a:extLst xmlns:a="http://schemas.openxmlformats.org/drawingml/2006/main">
              <a:ext uri="{FF2B5EF4-FFF2-40B4-BE49-F238E27FC236}">
                <a16:creationId xmlns:a16="http://schemas.microsoft.com/office/drawing/2014/main" id="{62815490-C4AE-4E91-81A8-16DEDFB65570}"/>
              </a:ext>
            </a:extLst>
          </p:cNvPr>
          <p:cNvSpPr>
            <a:spLocks xmlns:a="http://schemas.openxmlformats.org/drawingml/2006/main" noGrp="1"/>
          </p:cNvSpPr>
          <p:nvPr/>
        </p:nvSpPr>
        <p:spPr>
          <a:xfrm xmlns:a="http://schemas.openxmlformats.org/drawingml/2006/main">
            <a:off x="685800" y="3810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Walk the handoff</a:t>
            </a:r>
          </a:p>
        </p:txBody>
      </p:sp>
      <p:sp>
        <p:nvSpPr>
          <p:cNvPr id="10" name="Test the root cause">
            <a:extLst xmlns:a="http://schemas.openxmlformats.org/drawingml/2006/main">
              <a:ext uri="{FF2B5EF4-FFF2-40B4-BE49-F238E27FC236}">
                <a16:creationId xmlns:a16="http://schemas.microsoft.com/office/drawing/2014/main" id="{53A030A7-ACF4-4857-B74F-D845A4847349}"/>
              </a:ext>
            </a:extLst>
          </p:cNvPr>
          <p:cNvSpPr>
            <a:spLocks xmlns:a="http://schemas.openxmlformats.org/drawingml/2006/main" noGrp="1"/>
          </p:cNvSpPr>
          <p:nvPr/>
        </p:nvSpPr>
        <p:spPr>
          <a:xfrm xmlns:a="http://schemas.openxmlformats.org/drawingml/2006/main">
            <a:off x="4381500" y="3810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Test the root cause</a:t>
            </a:r>
          </a:p>
        </p:txBody>
      </p:sp>
      <p:sp>
        <p:nvSpPr>
          <p:cNvPr id="11" name="Requirement → UAT → KPI">
            <a:extLst xmlns:a="http://schemas.openxmlformats.org/drawingml/2006/main">
              <a:ext uri="{FF2B5EF4-FFF2-40B4-BE49-F238E27FC236}">
                <a16:creationId xmlns:a16="http://schemas.microsoft.com/office/drawing/2014/main" id="{EF8186B3-4440-4C28-8594-5BAF01B80C73}"/>
              </a:ext>
            </a:extLst>
          </p:cNvPr>
          <p:cNvSpPr>
            <a:spLocks xmlns:a="http://schemas.openxmlformats.org/drawingml/2006/main" noGrp="1"/>
          </p:cNvSpPr>
          <p:nvPr/>
        </p:nvSpPr>
        <p:spPr>
          <a:xfrm xmlns:a="http://schemas.openxmlformats.org/drawingml/2006/main">
            <a:off x="8077200" y="38100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Requirement → UAT → KPI</a:t>
            </a:r>
          </a:p>
        </p:txBody>
      </p: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a:off x="4114800" y="4286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8" name=""/>
          <p:cNvCxnSpPr>
            <a:stCxn xmlns:a="http://schemas.openxmlformats.org/drawingml/2006/main" id="10" idx="3"/>
            <a:endCxn xmlns:a="http://schemas.openxmlformats.org/drawingml/2006/main" id="11" idx="1"/>
          </p:cNvCxnSpPr>
          <p:nvPr/>
        </p:nvCxnSpPr>
        <p:spPr>
          <a:xfrm xmlns:a="http://schemas.openxmlformats.org/drawingml/2006/main">
            <a:off x="7810500" y="4286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14" name="Design documented · Prototype simul">
            <a:extLst xmlns:a="http://schemas.openxmlformats.org/drawingml/2006/main">
              <a:ext uri="{FF2B5EF4-FFF2-40B4-BE49-F238E27FC236}">
                <a16:creationId xmlns:a16="http://schemas.microsoft.com/office/drawing/2014/main" id="{81DB32FF-AE94-4EE3-8472-89391B0EBF1C}"/>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15" name="02">
            <a:extLst xmlns:a="http://schemas.openxmlformats.org/drawingml/2006/main">
              <a:ext uri="{FF2B5EF4-FFF2-40B4-BE49-F238E27FC236}">
                <a16:creationId xmlns:a16="http://schemas.microsoft.com/office/drawing/2014/main" id="{1F419E5D-52DD-4319-9D5B-EE85B87968DB}"/>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02</a:t>
            </a:r>
          </a:p>
        </p:txBody>
      </p:sp>
    </p:spTree>
    <p:extLst>
      <p:ext uri="{BB962C8B-B14F-4D97-AF65-F5344CB8AC3E}">
        <p14:creationId xmlns:p14="http://schemas.microsoft.com/office/powerpoint/2010/main" val="7274598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UILDFLOW  /  INDEPENDENT PORTFOLIO">
            <a:extLst xmlns:a="http://schemas.openxmlformats.org/drawingml/2006/main">
              <a:ext uri="{FF2B5EF4-FFF2-40B4-BE49-F238E27FC236}">
                <a16:creationId xmlns:a16="http://schemas.microsoft.com/office/drawing/2014/main" id="{E63831FD-72E2-4BA0-894C-2B65B48783E3}"/>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AS-IS and TO-BE">
            <a:extLst xmlns:a="http://schemas.openxmlformats.org/drawingml/2006/main">
              <a:ext uri="{FF2B5EF4-FFF2-40B4-BE49-F238E27FC236}">
                <a16:creationId xmlns:a16="http://schemas.microsoft.com/office/drawing/2014/main" id="{9954CF94-EB96-4C53-8743-5164C537FD32}"/>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AS-IS and TO-BE</a:t>
            </a:r>
          </a:p>
        </p:txBody>
      </p:sp>
      <p:sp>
        <p:nvSpPr>
          <p:cNvPr id="3" name="Inspection determines availability ">
            <a:extLst xmlns:a="http://schemas.openxmlformats.org/drawingml/2006/main">
              <a:ext uri="{FF2B5EF4-FFF2-40B4-BE49-F238E27FC236}">
                <a16:creationId xmlns:a16="http://schemas.microsoft.com/office/drawing/2014/main" id="{2E20BC38-F686-4889-98A7-C35291CF8B63}"/>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Inspection determines availability and starts the claim.</a:t>
            </a:r>
          </a:p>
        </p:txBody>
      </p:sp>
      <p:sp>
        <p:nvSpPr>
          <p:cNvPr id="4" name="AS-IS  Informal return; condition n">
            <a:extLst xmlns:a="http://schemas.openxmlformats.org/drawingml/2006/main">
              <a:ext uri="{FF2B5EF4-FFF2-40B4-BE49-F238E27FC236}">
                <a16:creationId xmlns:a16="http://schemas.microsoft.com/office/drawing/2014/main" id="{51CAA951-7D98-4D13-8F1F-3C0ED5AD618F}"/>
              </a:ext>
            </a:extLst>
          </p:cNvPr>
          <p:cNvSpPr>
            <a:spLocks xmlns:a="http://schemas.openxmlformats.org/drawingml/2006/main" noGrp="1"/>
          </p:cNvSpPr>
          <p:nvPr/>
        </p:nvSpPr>
        <p:spPr>
          <a:xfrm xmlns:a="http://schemas.openxmlformats.org/drawingml/2006/main">
            <a:off x="685800" y="22098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536"/>
                </a:solidFill>
                <a:latin typeface="Arial"/>
                <a:ea typeface="Arial"/>
                <a:cs typeface="Arial"/>
              </a:defRPr>
            </a:pPr>
            <a:r>
              <a:rPr sz="1875" b="0">
                <a:solidFill>
                  <a:srgbClr val="102536"/>
                </a:solidFill>
                <a:latin typeface="Arial"/>
                <a:ea typeface="Arial"/>
                <a:cs typeface="Arial"/>
              </a:rPr>
              <a:t>AS-IS  Informal return; condition not consistently recorded.</a:t>
            </a:r>
          </a:p>
        </p:txBody>
      </p:sp>
      <p:sp>
        <p:nvSpPr>
          <p:cNvPr id="5" name="Warehouse">
            <a:extLst xmlns:a="http://schemas.openxmlformats.org/drawingml/2006/main">
              <a:ext uri="{FF2B5EF4-FFF2-40B4-BE49-F238E27FC236}">
                <a16:creationId xmlns:a16="http://schemas.microsoft.com/office/drawing/2014/main" id="{4C1625DA-6C85-4F2E-9E3D-673BAB098B0D}"/>
              </a:ext>
            </a:extLst>
          </p:cNvPr>
          <p:cNvSpPr>
            <a:spLocks xmlns:a="http://schemas.openxmlformats.org/drawingml/2006/main" noGrp="1"/>
          </p:cNvSpPr>
          <p:nvPr/>
        </p:nvSpPr>
        <p:spPr>
          <a:xfrm xmlns:a="http://schemas.openxmlformats.org/drawingml/2006/main">
            <a:off x="685800" y="302895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Warehouse</a:t>
            </a:r>
          </a:p>
        </p:txBody>
      </p:sp>
      <p:sp>
        <p:nvSpPr>
          <p:cNvPr id="6" name="Inspect return">
            <a:extLst xmlns:a="http://schemas.openxmlformats.org/drawingml/2006/main">
              <a:ext uri="{FF2B5EF4-FFF2-40B4-BE49-F238E27FC236}">
                <a16:creationId xmlns:a16="http://schemas.microsoft.com/office/drawing/2014/main" id="{1E1FE945-EE6A-4FD1-82A3-D7D03E6800C2}"/>
              </a:ext>
            </a:extLst>
          </p:cNvPr>
          <p:cNvSpPr>
            <a:spLocks xmlns:a="http://schemas.openxmlformats.org/drawingml/2006/main" noGrp="1"/>
          </p:cNvSpPr>
          <p:nvPr/>
        </p:nvSpPr>
        <p:spPr>
          <a:xfrm xmlns:a="http://schemas.openxmlformats.org/drawingml/2006/main">
            <a:off x="2476500" y="2857500"/>
            <a:ext cx="2571750" cy="714375"/>
          </a:xfrm>
          <a:prstGeom xmlns:a="http://schemas.openxmlformats.org/drawingml/2006/main" prst="roundRect">
            <a:avLst>
              <a:gd name="adj" fmla="val 10667"/>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950" b="1">
                <a:solidFill>
                  <a:srgbClr val="102536"/>
                </a:solidFill>
                <a:latin typeface="Arial"/>
                <a:ea typeface="Arial"/>
                <a:cs typeface="Arial"/>
              </a:defRPr>
            </a:pPr>
            <a:r>
              <a:rPr sz="1950" b="1">
                <a:solidFill>
                  <a:srgbClr val="102536"/>
                </a:solidFill>
                <a:latin typeface="Arial"/>
                <a:ea typeface="Arial"/>
                <a:cs typeface="Arial"/>
              </a:rPr>
              <a:t>Inspect return</a:t>
            </a:r>
          </a:p>
        </p:txBody>
      </p:sp>
      <p:sp>
        <p:nvSpPr>
          <p:cNvPr id="7" name="">
            <a:extLst xmlns:a="http://schemas.openxmlformats.org/drawingml/2006/main">
              <a:ext uri="{FF2B5EF4-FFF2-40B4-BE49-F238E27FC236}">
                <a16:creationId xmlns:a16="http://schemas.microsoft.com/office/drawing/2014/main" id="{4EE11F9F-269C-4305-9EDC-E9E28B36F208}"/>
              </a:ext>
            </a:extLst>
          </p:cNvPr>
          <p:cNvSpPr>
            <a:spLocks xmlns:a="http://schemas.openxmlformats.org/drawingml/2006/main" noGrp="1"/>
          </p:cNvSpPr>
          <p:nvPr/>
        </p:nvSpPr>
        <p:spPr>
          <a:xfrm xmlns:a="http://schemas.openxmlformats.org/drawingml/2006/main">
            <a:off x="5476875" y="2876550"/>
            <a:ext cx="1428750" cy="762000"/>
          </a:xfrm>
          <a:prstGeom xmlns:a="http://schemas.openxmlformats.org/drawingml/2006/main" prst="diamond">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r>
              <a:t/>
            </a:r>
          </a:p>
        </p:txBody>
      </p:sp>
      <p:sp>
        <p:nvSpPr>
          <p:cNvPr id="8" name="Damage?">
            <a:extLst xmlns:a="http://schemas.openxmlformats.org/drawingml/2006/main">
              <a:ext uri="{FF2B5EF4-FFF2-40B4-BE49-F238E27FC236}">
                <a16:creationId xmlns:a16="http://schemas.microsoft.com/office/drawing/2014/main" id="{9115CEF6-7C0E-4E77-B27D-68D68EE5C58E}"/>
              </a:ext>
            </a:extLst>
          </p:cNvPr>
          <p:cNvSpPr>
            <a:spLocks xmlns:a="http://schemas.openxmlformats.org/drawingml/2006/main" noGrp="1"/>
          </p:cNvSpPr>
          <p:nvPr/>
        </p:nvSpPr>
        <p:spPr>
          <a:xfrm xmlns:a="http://schemas.openxmlformats.org/drawingml/2006/main">
            <a:off x="5505450" y="30480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02536"/>
                </a:solidFill>
                <a:latin typeface="Arial"/>
                <a:ea typeface="Arial"/>
                <a:cs typeface="Arial"/>
              </a:defRPr>
            </a:pPr>
            <a:r>
              <a:rPr sz="1650" b="1">
                <a:solidFill>
                  <a:srgbClr val="102536"/>
                </a:solidFill>
                <a:latin typeface="Arial"/>
                <a:ea typeface="Arial"/>
                <a:cs typeface="Arial"/>
              </a:rPr>
              <a:t>Damage?</a:t>
            </a:r>
          </a:p>
        </p:txBody>
      </p:sp>
      <p:sp>
        <p:nvSpPr>
          <p:cNvPr id="9" name="Available + history">
            <a:extLst xmlns:a="http://schemas.openxmlformats.org/drawingml/2006/main">
              <a:ext uri="{FF2B5EF4-FFF2-40B4-BE49-F238E27FC236}">
                <a16:creationId xmlns:a16="http://schemas.microsoft.com/office/drawing/2014/main" id="{AB536EFF-E496-47D1-847B-81FEDE98FC8F}"/>
              </a:ext>
            </a:extLst>
          </p:cNvPr>
          <p:cNvSpPr>
            <a:spLocks xmlns:a="http://schemas.openxmlformats.org/drawingml/2006/main" noGrp="1"/>
          </p:cNvSpPr>
          <p:nvPr/>
        </p:nvSpPr>
        <p:spPr>
          <a:xfrm xmlns:a="http://schemas.openxmlformats.org/drawingml/2006/main">
            <a:off x="7810500" y="2524125"/>
            <a:ext cx="3476625" cy="666750"/>
          </a:xfrm>
          <a:prstGeom xmlns:a="http://schemas.openxmlformats.org/drawingml/2006/main" prst="roundRect">
            <a:avLst>
              <a:gd name="adj" fmla="val 11429"/>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75" b="1">
                <a:solidFill>
                  <a:srgbClr val="102536"/>
                </a:solidFill>
                <a:latin typeface="Arial"/>
                <a:ea typeface="Arial"/>
                <a:cs typeface="Arial"/>
              </a:defRPr>
            </a:pPr>
            <a:r>
              <a:rPr sz="1875" b="1">
                <a:solidFill>
                  <a:srgbClr val="102536"/>
                </a:solidFill>
                <a:latin typeface="Arial"/>
                <a:ea typeface="Arial"/>
                <a:cs typeface="Arial"/>
              </a:rPr>
              <a:t>Available + history</a:t>
            </a:r>
          </a:p>
        </p:txBody>
      </p:sp>
      <p:sp>
        <p:nvSpPr>
          <p:cNvPr id="10" name="Damaged + linked Draft">
            <a:extLst xmlns:a="http://schemas.openxmlformats.org/drawingml/2006/main">
              <a:ext uri="{FF2B5EF4-FFF2-40B4-BE49-F238E27FC236}">
                <a16:creationId xmlns:a16="http://schemas.microsoft.com/office/drawing/2014/main" id="{89557EE2-3EBD-42F4-BFBE-9AD5108FEBB8}"/>
              </a:ext>
            </a:extLst>
          </p:cNvPr>
          <p:cNvSpPr>
            <a:spLocks xmlns:a="http://schemas.openxmlformats.org/drawingml/2006/main" noGrp="1"/>
          </p:cNvSpPr>
          <p:nvPr/>
        </p:nvSpPr>
        <p:spPr>
          <a:xfrm xmlns:a="http://schemas.openxmlformats.org/drawingml/2006/main">
            <a:off x="7810500" y="3810000"/>
            <a:ext cx="3476625" cy="666750"/>
          </a:xfrm>
          <a:prstGeom xmlns:a="http://schemas.openxmlformats.org/drawingml/2006/main" prst="roundRect">
            <a:avLst>
              <a:gd name="adj" fmla="val 11429"/>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75" b="1">
                <a:solidFill>
                  <a:srgbClr val="102536"/>
                </a:solidFill>
                <a:latin typeface="Arial"/>
                <a:ea typeface="Arial"/>
                <a:cs typeface="Arial"/>
              </a:defRPr>
            </a:pPr>
            <a:r>
              <a:rPr sz="1875" b="1">
                <a:solidFill>
                  <a:srgbClr val="102536"/>
                </a:solidFill>
                <a:latin typeface="Arial"/>
                <a:ea typeface="Arial"/>
                <a:cs typeface="Arial"/>
              </a:rPr>
              <a:t>Damaged + linked Draft</a:t>
            </a:r>
          </a:p>
        </p:txBody>
      </p:sp>
      <p:sp>
        <p:nvSpPr>
          <p:cNvPr id="11" name="→">
            <a:extLst xmlns:a="http://schemas.openxmlformats.org/drawingml/2006/main">
              <a:ext uri="{FF2B5EF4-FFF2-40B4-BE49-F238E27FC236}">
                <a16:creationId xmlns:a16="http://schemas.microsoft.com/office/drawing/2014/main" id="{F2692A4F-7DDB-4116-9B53-D3BD91BDCB42}"/>
              </a:ext>
            </a:extLst>
          </p:cNvPr>
          <p:cNvSpPr>
            <a:spLocks xmlns:a="http://schemas.openxmlformats.org/drawingml/2006/main" noGrp="1"/>
          </p:cNvSpPr>
          <p:nvPr/>
        </p:nvSpPr>
        <p:spPr>
          <a:xfrm xmlns:a="http://schemas.openxmlformats.org/drawingml/2006/main">
            <a:off x="5086350" y="304800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7F8C"/>
                </a:solidFill>
                <a:latin typeface="Arial"/>
                <a:ea typeface="Arial"/>
                <a:cs typeface="Arial"/>
              </a:defRPr>
            </a:pPr>
            <a:r>
              <a:rPr sz="2250" b="0">
                <a:solidFill>
                  <a:srgbClr val="087F8C"/>
                </a:solidFill>
                <a:latin typeface="Arial"/>
                <a:ea typeface="Arial"/>
                <a:cs typeface="Arial"/>
              </a:rPr>
              <a:t>→</a:t>
            </a:r>
          </a:p>
        </p:txBody>
      </p:sp>
      <p:sp>
        <p:nvSpPr>
          <p:cNvPr id="12" name="No →">
            <a:extLst xmlns:a="http://schemas.openxmlformats.org/drawingml/2006/main">
              <a:ext uri="{FF2B5EF4-FFF2-40B4-BE49-F238E27FC236}">
                <a16:creationId xmlns:a16="http://schemas.microsoft.com/office/drawing/2014/main" id="{EB9AD748-8E57-4747-A550-2A765BC2E380}"/>
              </a:ext>
            </a:extLst>
          </p:cNvPr>
          <p:cNvSpPr>
            <a:spLocks xmlns:a="http://schemas.openxmlformats.org/drawingml/2006/main" noGrp="1"/>
          </p:cNvSpPr>
          <p:nvPr/>
        </p:nvSpPr>
        <p:spPr>
          <a:xfrm xmlns:a="http://schemas.openxmlformats.org/drawingml/2006/main">
            <a:off x="7000875" y="2638425"/>
            <a:ext cx="80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No →</a:t>
            </a:r>
          </a:p>
        </p:txBody>
      </p:sp>
      <p:sp>
        <p:nvSpPr>
          <p:cNvPr id="13" name="Yes →">
            <a:extLst xmlns:a="http://schemas.openxmlformats.org/drawingml/2006/main">
              <a:ext uri="{FF2B5EF4-FFF2-40B4-BE49-F238E27FC236}">
                <a16:creationId xmlns:a16="http://schemas.microsoft.com/office/drawing/2014/main" id="{199B5329-DD8B-45A3-ADCA-A4114814E134}"/>
              </a:ext>
            </a:extLst>
          </p:cNvPr>
          <p:cNvSpPr>
            <a:spLocks xmlns:a="http://schemas.openxmlformats.org/drawingml/2006/main" noGrp="1"/>
          </p:cNvSpPr>
          <p:nvPr/>
        </p:nvSpPr>
        <p:spPr>
          <a:xfrm xmlns:a="http://schemas.openxmlformats.org/drawingml/2006/main">
            <a:off x="6905625" y="38290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Yes →</a:t>
            </a:r>
          </a:p>
        </p:txBody>
      </p:sp>
      <p:sp>
        <p:nvSpPr>
          <p:cNvPr id="14" name="Application">
            <a:extLst xmlns:a="http://schemas.openxmlformats.org/drawingml/2006/main">
              <a:ext uri="{FF2B5EF4-FFF2-40B4-BE49-F238E27FC236}">
                <a16:creationId xmlns:a16="http://schemas.microsoft.com/office/drawing/2014/main" id="{3B9E38B3-7D2F-446F-94C0-BE7746D2F89E}"/>
              </a:ext>
            </a:extLst>
          </p:cNvPr>
          <p:cNvSpPr>
            <a:spLocks xmlns:a="http://schemas.openxmlformats.org/drawingml/2006/main" noGrp="1"/>
          </p:cNvSpPr>
          <p:nvPr/>
        </p:nvSpPr>
        <p:spPr>
          <a:xfrm xmlns:a="http://schemas.openxmlformats.org/drawingml/2006/main">
            <a:off x="685800" y="387667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Application</a:t>
            </a:r>
          </a:p>
        </p:txBody>
      </p:sp>
      <p:sp>
        <p:nvSpPr>
          <p:cNvPr id="15" name="Executive process view; full BPMN l">
            <a:extLst xmlns:a="http://schemas.openxmlformats.org/drawingml/2006/main">
              <a:ext uri="{FF2B5EF4-FFF2-40B4-BE49-F238E27FC236}">
                <a16:creationId xmlns:a16="http://schemas.microsoft.com/office/drawing/2014/main" id="{C410B51D-CD75-4883-9E46-88FFED0BE8D5}"/>
              </a:ext>
            </a:extLst>
          </p:cNvPr>
          <p:cNvSpPr>
            <a:spLocks xmlns:a="http://schemas.openxmlformats.org/drawingml/2006/main" noGrp="1"/>
          </p:cNvSpPr>
          <p:nvPr/>
        </p:nvSpPr>
        <p:spPr>
          <a:xfrm xmlns:a="http://schemas.openxmlformats.org/drawingml/2006/main">
            <a:off x="685800" y="49053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F7382"/>
                </a:solidFill>
                <a:latin typeface="Arial"/>
                <a:ea typeface="Arial"/>
                <a:cs typeface="Arial"/>
              </a:defRPr>
            </a:pPr>
            <a:r>
              <a:rPr sz="1725" b="0">
                <a:solidFill>
                  <a:srgbClr val="5F7382"/>
                </a:solidFill>
                <a:latin typeface="Arial"/>
                <a:ea typeface="Arial"/>
                <a:cs typeface="Arial"/>
              </a:rPr>
              <a:t>Executive process view; full BPMN lanes and exceptions in source.</a:t>
            </a:r>
          </a:p>
        </p:txBody>
      </p:sp>
      <p:sp>
        <p:nvSpPr>
          <p:cNvPr id="16" name="Design documented · Prototype simul">
            <a:extLst xmlns:a="http://schemas.openxmlformats.org/drawingml/2006/main">
              <a:ext uri="{FF2B5EF4-FFF2-40B4-BE49-F238E27FC236}">
                <a16:creationId xmlns:a16="http://schemas.microsoft.com/office/drawing/2014/main" id="{145845C7-B644-4E94-B348-B006CBD29314}"/>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17" name="03">
            <a:extLst xmlns:a="http://schemas.openxmlformats.org/drawingml/2006/main">
              <a:ext uri="{FF2B5EF4-FFF2-40B4-BE49-F238E27FC236}">
                <a16:creationId xmlns:a16="http://schemas.microsoft.com/office/drawing/2014/main" id="{C58BA6E0-AE39-4A60-ADB2-E013C6F80A02}"/>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03</a:t>
            </a:r>
          </a:p>
        </p:txBody>
      </p:sp>
    </p:spTree>
    <p:extLst>
      <p:ext uri="{BB962C8B-B14F-4D97-AF65-F5344CB8AC3E}">
        <p14:creationId xmlns:p14="http://schemas.microsoft.com/office/powerpoint/2010/main" val="21337595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UILDFLOW  /  INDEPENDENT PORTFOLIO">
            <a:extLst xmlns:a="http://schemas.openxmlformats.org/drawingml/2006/main">
              <a:ext uri="{FF2B5EF4-FFF2-40B4-BE49-F238E27FC236}">
                <a16:creationId xmlns:a16="http://schemas.microsoft.com/office/drawing/2014/main" id="{A5825B75-97BD-48B3-B246-E8D01FB50A0C}"/>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Solution architecture">
            <a:extLst xmlns:a="http://schemas.openxmlformats.org/drawingml/2006/main">
              <a:ext uri="{FF2B5EF4-FFF2-40B4-BE49-F238E27FC236}">
                <a16:creationId xmlns:a16="http://schemas.microsoft.com/office/drawing/2014/main" id="{5FD2520C-6FBE-4075-A5FE-B50F0420405F}"/>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Solution architecture</a:t>
            </a:r>
          </a:p>
        </p:txBody>
      </p:sp>
      <p:sp>
        <p:nvSpPr>
          <p:cNvPr id="3" name="ERP remains the financial system of">
            <a:extLst xmlns:a="http://schemas.openxmlformats.org/drawingml/2006/main">
              <a:ext uri="{FF2B5EF4-FFF2-40B4-BE49-F238E27FC236}">
                <a16:creationId xmlns:a16="http://schemas.microsoft.com/office/drawing/2014/main" id="{B680EDE8-2AD9-4E9D-B773-25533F9E8EDA}"/>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ERP remains the financial system of record.</a:t>
            </a:r>
          </a:p>
        </p:txBody>
      </p:sp>
      <p:sp>
        <p:nvSpPr>
          <p:cNvPr id="4" name="Users">
            <a:extLst xmlns:a="http://schemas.openxmlformats.org/drawingml/2006/main">
              <a:ext uri="{FF2B5EF4-FFF2-40B4-BE49-F238E27FC236}">
                <a16:creationId xmlns:a16="http://schemas.microsoft.com/office/drawing/2014/main" id="{327872A3-7ED6-42FB-BB0B-979EB8D3F3A2}"/>
              </a:ext>
            </a:extLst>
          </p:cNvPr>
          <p:cNvSpPr>
            <a:spLocks xmlns:a="http://schemas.openxmlformats.org/drawingml/2006/main" noGrp="1"/>
          </p:cNvSpPr>
          <p:nvPr/>
        </p:nvSpPr>
        <p:spPr>
          <a:xfrm xmlns:a="http://schemas.openxmlformats.org/drawingml/2006/main">
            <a:off x="685800" y="238125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Users</a:t>
            </a:r>
          </a:p>
        </p:txBody>
      </p:sp>
      <p:sp>
        <p:nvSpPr>
          <p:cNvPr id="5" name="Power Apps">
            <a:extLst xmlns:a="http://schemas.openxmlformats.org/drawingml/2006/main">
              <a:ext uri="{FF2B5EF4-FFF2-40B4-BE49-F238E27FC236}">
                <a16:creationId xmlns:a16="http://schemas.microsoft.com/office/drawing/2014/main" id="{4BE9C56E-D929-4DDE-A327-B6673ECA54AB}"/>
              </a:ext>
            </a:extLst>
          </p:cNvPr>
          <p:cNvSpPr>
            <a:spLocks xmlns:a="http://schemas.openxmlformats.org/drawingml/2006/main" noGrp="1"/>
          </p:cNvSpPr>
          <p:nvPr/>
        </p:nvSpPr>
        <p:spPr>
          <a:xfrm xmlns:a="http://schemas.openxmlformats.org/drawingml/2006/main">
            <a:off x="2903220" y="238125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Power Apps</a:t>
            </a:r>
          </a:p>
        </p:txBody>
      </p:sp>
      <p:sp>
        <p:nvSpPr>
          <p:cNvPr id="6" name="Dataverse&#10;command rules">
            <a:extLst xmlns:a="http://schemas.openxmlformats.org/drawingml/2006/main">
              <a:ext uri="{FF2B5EF4-FFF2-40B4-BE49-F238E27FC236}">
                <a16:creationId xmlns:a16="http://schemas.microsoft.com/office/drawing/2014/main" id="{A84D48CF-56B4-49F8-B328-62E002595026}"/>
              </a:ext>
            </a:extLst>
          </p:cNvPr>
          <p:cNvSpPr>
            <a:spLocks xmlns:a="http://schemas.openxmlformats.org/drawingml/2006/main" noGrp="1"/>
          </p:cNvSpPr>
          <p:nvPr/>
        </p:nvSpPr>
        <p:spPr>
          <a:xfrm xmlns:a="http://schemas.openxmlformats.org/drawingml/2006/main">
            <a:off x="5120640" y="238125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Dataverse</a:t>
            </a:r>
          </a:p>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command rules</a:t>
            </a:r>
          </a:p>
        </p:txBody>
      </p:sp>
      <p:sp>
        <p:nvSpPr>
          <p:cNvPr id="7" name="ERP adapter">
            <a:extLst xmlns:a="http://schemas.openxmlformats.org/drawingml/2006/main">
              <a:ext uri="{FF2B5EF4-FFF2-40B4-BE49-F238E27FC236}">
                <a16:creationId xmlns:a16="http://schemas.microsoft.com/office/drawing/2014/main" id="{545121F3-661E-445D-B4B0-35E8A8BB0067}"/>
              </a:ext>
            </a:extLst>
          </p:cNvPr>
          <p:cNvSpPr>
            <a:spLocks xmlns:a="http://schemas.openxmlformats.org/drawingml/2006/main" noGrp="1"/>
          </p:cNvSpPr>
          <p:nvPr/>
        </p:nvSpPr>
        <p:spPr>
          <a:xfrm xmlns:a="http://schemas.openxmlformats.org/drawingml/2006/main">
            <a:off x="7338060" y="238125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ERP adapter</a:t>
            </a:r>
          </a:p>
        </p:txBody>
      </p:sp>
      <p:sp>
        <p:nvSpPr>
          <p:cNvPr id="8" name="ERP">
            <a:extLst xmlns:a="http://schemas.openxmlformats.org/drawingml/2006/main">
              <a:ext uri="{FF2B5EF4-FFF2-40B4-BE49-F238E27FC236}">
                <a16:creationId xmlns:a16="http://schemas.microsoft.com/office/drawing/2014/main" id="{635FC921-FB12-48B5-9FAF-33096EFFBF71}"/>
              </a:ext>
            </a:extLst>
          </p:cNvPr>
          <p:cNvSpPr>
            <a:spLocks xmlns:a="http://schemas.openxmlformats.org/drawingml/2006/main" noGrp="1"/>
          </p:cNvSpPr>
          <p:nvPr/>
        </p:nvSpPr>
        <p:spPr>
          <a:xfrm xmlns:a="http://schemas.openxmlformats.org/drawingml/2006/main">
            <a:off x="9555480" y="238125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ERP</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2636520" y="285750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4853940" y="285750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7071360" y="285750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9288780" y="285750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13" name="Entra ID  ·  SharePoint evidence  ·">
            <a:extLst xmlns:a="http://schemas.openxmlformats.org/drawingml/2006/main">
              <a:ext uri="{FF2B5EF4-FFF2-40B4-BE49-F238E27FC236}">
                <a16:creationId xmlns:a16="http://schemas.microsoft.com/office/drawing/2014/main" id="{8CD5C8CB-1B8F-4A9C-8F54-75AE067FD5AC}"/>
              </a:ext>
            </a:extLst>
          </p:cNvPr>
          <p:cNvSpPr>
            <a:spLocks xmlns:a="http://schemas.openxmlformats.org/drawingml/2006/main" noGrp="1"/>
          </p:cNvSpPr>
          <p:nvPr/>
        </p:nvSpPr>
        <p:spPr>
          <a:xfrm xmlns:a="http://schemas.openxmlformats.org/drawingml/2006/main">
            <a:off x="685800" y="36671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Entra ID  ·  SharePoint evidence  ·  Power Automate  ·  Optional AI  ·  Monitoring</a:t>
            </a:r>
          </a:p>
        </p:txBody>
      </p:sp>
      <p:sp>
        <p:nvSpPr>
          <p:cNvPr id="14" name="Application: custody, claims, appro">
            <a:extLst xmlns:a="http://schemas.openxmlformats.org/drawingml/2006/main">
              <a:ext uri="{FF2B5EF4-FFF2-40B4-BE49-F238E27FC236}">
                <a16:creationId xmlns:a16="http://schemas.microsoft.com/office/drawing/2014/main" id="{8D19B358-CEC1-4478-A944-229F9B04C414}"/>
              </a:ext>
            </a:extLst>
          </p:cNvPr>
          <p:cNvSpPr>
            <a:spLocks xmlns:a="http://schemas.openxmlformats.org/drawingml/2006/main" noGrp="1"/>
          </p:cNvSpPr>
          <p:nvPr/>
        </p:nvSpPr>
        <p:spPr>
          <a:xfrm xmlns:a="http://schemas.openxmlformats.org/drawingml/2006/main">
            <a:off x="685800" y="4619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536"/>
                </a:solidFill>
                <a:latin typeface="Arial"/>
                <a:ea typeface="Arial"/>
                <a:cs typeface="Arial"/>
              </a:defRPr>
            </a:pPr>
            <a:r>
              <a:rPr sz="1950" b="0">
                <a:solidFill>
                  <a:srgbClr val="102536"/>
                </a:solidFill>
                <a:latin typeface="Arial"/>
                <a:ea typeface="Arial"/>
                <a:cs typeface="Arial"/>
              </a:rPr>
              <a:t>Application: custody, claims, approvals</a:t>
            </a:r>
          </a:p>
          <a:p xmlns:a="http://schemas.openxmlformats.org/drawingml/2006/main">
            <a:pPr>
              <a:defRPr sz="1950" b="0">
                <a:solidFill>
                  <a:srgbClr val="102536"/>
                </a:solidFill>
                <a:latin typeface="Arial"/>
                <a:ea typeface="Arial"/>
                <a:cs typeface="Arial"/>
              </a:defRPr>
            </a:pPr>
            <a:r>
              <a:rPr sz="1950" b="0">
                <a:solidFill>
                  <a:srgbClr val="102536"/>
                </a:solidFill>
                <a:latin typeface="Arial"/>
                <a:ea typeface="Arial"/>
                <a:cs typeface="Arial"/>
              </a:rPr>
              <a:t>ERP: masterdata, commitments, posted invoices</a:t>
            </a:r>
          </a:p>
        </p:txBody>
      </p:sp>
      <p:sp>
        <p:nvSpPr>
          <p:cNvPr id="15" name="Design documented · Prototype simul">
            <a:extLst xmlns:a="http://schemas.openxmlformats.org/drawingml/2006/main">
              <a:ext uri="{FF2B5EF4-FFF2-40B4-BE49-F238E27FC236}">
                <a16:creationId xmlns:a16="http://schemas.microsoft.com/office/drawing/2014/main" id="{84249425-2E4A-461F-AC8B-69301C7D6B1B}"/>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16" name="04">
            <a:extLst xmlns:a="http://schemas.openxmlformats.org/drawingml/2006/main">
              <a:ext uri="{FF2B5EF4-FFF2-40B4-BE49-F238E27FC236}">
                <a16:creationId xmlns:a16="http://schemas.microsoft.com/office/drawing/2014/main" id="{60A7C0F0-A0DD-4DD9-8D74-1BF865C26FB1}"/>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04</a:t>
            </a:r>
          </a:p>
        </p:txBody>
      </p:sp>
    </p:spTree>
    <p:extLst>
      <p:ext uri="{BB962C8B-B14F-4D97-AF65-F5344CB8AC3E}">
        <p14:creationId xmlns:p14="http://schemas.microsoft.com/office/powerpoint/2010/main" val="20543742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BUILDFLOW  /  INDEPENDENT PORTFOLIO">
            <a:extLst xmlns:a="http://schemas.openxmlformats.org/drawingml/2006/main">
              <a:ext uri="{FF2B5EF4-FFF2-40B4-BE49-F238E27FC236}">
                <a16:creationId xmlns:a16="http://schemas.microsoft.com/office/drawing/2014/main" id="{25E6BBD7-F66D-47DB-850C-6182CF35EC6B}"/>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Automation and AI">
            <a:extLst xmlns:a="http://schemas.openxmlformats.org/drawingml/2006/main">
              <a:ext uri="{FF2B5EF4-FFF2-40B4-BE49-F238E27FC236}">
                <a16:creationId xmlns:a16="http://schemas.microsoft.com/office/drawing/2014/main" id="{A5693AA3-F88C-475B-9597-B73684B001AB}"/>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Automation and AI</a:t>
            </a:r>
          </a:p>
        </p:txBody>
      </p:sp>
      <p:sp>
        <p:nvSpPr>
          <p:cNvPr id="3" name="Human decisions remain visible and ">
            <a:extLst xmlns:a="http://schemas.openxmlformats.org/drawingml/2006/main">
              <a:ext uri="{FF2B5EF4-FFF2-40B4-BE49-F238E27FC236}">
                <a16:creationId xmlns:a16="http://schemas.microsoft.com/office/drawing/2014/main" id="{2D663BA0-F60A-4D73-BBCD-C6773E11F483}"/>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Human decisions remain visible and accountable.</a:t>
            </a:r>
          </a:p>
        </p:txBody>
      </p:sp>
      <p:sp>
        <p:nvSpPr>
          <p:cNvPr id="4" name="Submission">
            <a:extLst xmlns:a="http://schemas.openxmlformats.org/drawingml/2006/main">
              <a:ext uri="{FF2B5EF4-FFF2-40B4-BE49-F238E27FC236}">
                <a16:creationId xmlns:a16="http://schemas.microsoft.com/office/drawing/2014/main" id="{E290D083-E197-405D-8BA2-C83F5F2C9BF7}"/>
              </a:ext>
            </a:extLst>
          </p:cNvPr>
          <p:cNvSpPr>
            <a:spLocks xmlns:a="http://schemas.openxmlformats.org/drawingml/2006/main" noGrp="1"/>
          </p:cNvSpPr>
          <p:nvPr/>
        </p:nvSpPr>
        <p:spPr>
          <a:xfrm xmlns:a="http://schemas.openxmlformats.org/drawingml/2006/main">
            <a:off x="68580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Submission</a:t>
            </a:r>
          </a:p>
        </p:txBody>
      </p:sp>
      <p:sp>
        <p:nvSpPr>
          <p:cNvPr id="5" name="Validation">
            <a:extLst xmlns:a="http://schemas.openxmlformats.org/drawingml/2006/main">
              <a:ext uri="{FF2B5EF4-FFF2-40B4-BE49-F238E27FC236}">
                <a16:creationId xmlns:a16="http://schemas.microsoft.com/office/drawing/2014/main" id="{33212416-7D3B-4330-97AA-18DD61734ACB}"/>
              </a:ext>
            </a:extLst>
          </p:cNvPr>
          <p:cNvSpPr>
            <a:spLocks xmlns:a="http://schemas.openxmlformats.org/drawingml/2006/main" noGrp="1"/>
          </p:cNvSpPr>
          <p:nvPr/>
        </p:nvSpPr>
        <p:spPr>
          <a:xfrm xmlns:a="http://schemas.openxmlformats.org/drawingml/2006/main">
            <a:off x="290322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Validation</a:t>
            </a:r>
          </a:p>
        </p:txBody>
      </p:sp>
      <p:sp>
        <p:nvSpPr>
          <p:cNvPr id="6" name="Approval">
            <a:extLst xmlns:a="http://schemas.openxmlformats.org/drawingml/2006/main">
              <a:ext uri="{FF2B5EF4-FFF2-40B4-BE49-F238E27FC236}">
                <a16:creationId xmlns:a16="http://schemas.microsoft.com/office/drawing/2014/main" id="{3F3A4FAF-B988-403A-BB7F-C20E92B32608}"/>
              </a:ext>
            </a:extLst>
          </p:cNvPr>
          <p:cNvSpPr>
            <a:spLocks xmlns:a="http://schemas.openxmlformats.org/drawingml/2006/main" noGrp="1"/>
          </p:cNvSpPr>
          <p:nvPr/>
        </p:nvSpPr>
        <p:spPr>
          <a:xfrm xmlns:a="http://schemas.openxmlformats.org/drawingml/2006/main">
            <a:off x="512064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Approval</a:t>
            </a:r>
          </a:p>
        </p:txBody>
      </p:sp>
      <p:sp>
        <p:nvSpPr>
          <p:cNvPr id="7" name="ERP adapter">
            <a:extLst xmlns:a="http://schemas.openxmlformats.org/drawingml/2006/main">
              <a:ext uri="{FF2B5EF4-FFF2-40B4-BE49-F238E27FC236}">
                <a16:creationId xmlns:a16="http://schemas.microsoft.com/office/drawing/2014/main" id="{3CFE66E2-8F11-4479-AEF7-BC0B50C9F1BB}"/>
              </a:ext>
            </a:extLst>
          </p:cNvPr>
          <p:cNvSpPr>
            <a:spLocks xmlns:a="http://schemas.openxmlformats.org/drawingml/2006/main" noGrp="1"/>
          </p:cNvSpPr>
          <p:nvPr/>
        </p:nvSpPr>
        <p:spPr>
          <a:xfrm xmlns:a="http://schemas.openxmlformats.org/drawingml/2006/main">
            <a:off x="733806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ERP adapter</a:t>
            </a:r>
          </a:p>
        </p:txBody>
      </p:sp>
      <p:sp>
        <p:nvSpPr>
          <p:cNvPr id="8" name="Notification">
            <a:extLst xmlns:a="http://schemas.openxmlformats.org/drawingml/2006/main">
              <a:ext uri="{FF2B5EF4-FFF2-40B4-BE49-F238E27FC236}">
                <a16:creationId xmlns:a16="http://schemas.microsoft.com/office/drawing/2014/main" id="{CC00DAF1-D42A-4FDA-B44B-5BC2A9AF82FD}"/>
              </a:ext>
            </a:extLst>
          </p:cNvPr>
          <p:cNvSpPr>
            <a:spLocks xmlns:a="http://schemas.openxmlformats.org/drawingml/2006/main" noGrp="1"/>
          </p:cNvSpPr>
          <p:nvPr/>
        </p:nvSpPr>
        <p:spPr>
          <a:xfrm xmlns:a="http://schemas.openxmlformats.org/drawingml/2006/main">
            <a:off x="955548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Notification</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263652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485394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707136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928878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13" name="&gt; EUR 5,000: Manager + Finance on t">
            <a:extLst xmlns:a="http://schemas.openxmlformats.org/drawingml/2006/main">
              <a:ext uri="{FF2B5EF4-FFF2-40B4-BE49-F238E27FC236}">
                <a16:creationId xmlns:a16="http://schemas.microsoft.com/office/drawing/2014/main" id="{0C030737-900C-4A8B-85DA-F2A59E29A090}"/>
              </a:ext>
            </a:extLst>
          </p:cNvPr>
          <p:cNvSpPr>
            <a:spLocks xmlns:a="http://schemas.openxmlformats.org/drawingml/2006/main" noGrp="1"/>
          </p:cNvSpPr>
          <p:nvPr/>
        </p:nvSpPr>
        <p:spPr>
          <a:xfrm xmlns:a="http://schemas.openxmlformats.org/drawingml/2006/main">
            <a:off x="685800" y="3571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&gt; EUR 5,000: Manager + Finance on the same revision.</a:t>
            </a:r>
          </a:p>
        </p:txBody>
      </p:sp>
      <p:sp>
        <p:nvSpPr>
          <p:cNvPr id="14" name="Optional AI suggestion">
            <a:extLst xmlns:a="http://schemas.openxmlformats.org/drawingml/2006/main">
              <a:ext uri="{FF2B5EF4-FFF2-40B4-BE49-F238E27FC236}">
                <a16:creationId xmlns:a16="http://schemas.microsoft.com/office/drawing/2014/main" id="{E513C4C2-B14C-4403-8571-8F27944AEAD3}"/>
              </a:ext>
            </a:extLst>
          </p:cNvPr>
          <p:cNvSpPr>
            <a:spLocks xmlns:a="http://schemas.openxmlformats.org/drawingml/2006/main" noGrp="1"/>
          </p:cNvSpPr>
          <p:nvPr/>
        </p:nvSpPr>
        <p:spPr>
          <a:xfrm xmlns:a="http://schemas.openxmlformats.org/drawingml/2006/main">
            <a:off x="685800" y="43815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Optional AI suggestion</a:t>
            </a:r>
          </a:p>
        </p:txBody>
      </p:sp>
      <p:sp>
        <p:nvSpPr>
          <p:cNvPr id="15" name="Human validation">
            <a:extLst xmlns:a="http://schemas.openxmlformats.org/drawingml/2006/main">
              <a:ext uri="{FF2B5EF4-FFF2-40B4-BE49-F238E27FC236}">
                <a16:creationId xmlns:a16="http://schemas.microsoft.com/office/drawing/2014/main" id="{BC178F38-B088-4CF8-99F1-A3D8CA19D43D}"/>
              </a:ext>
            </a:extLst>
          </p:cNvPr>
          <p:cNvSpPr>
            <a:spLocks xmlns:a="http://schemas.openxmlformats.org/drawingml/2006/main" noGrp="1"/>
          </p:cNvSpPr>
          <p:nvPr/>
        </p:nvSpPr>
        <p:spPr>
          <a:xfrm xmlns:a="http://schemas.openxmlformats.org/drawingml/2006/main">
            <a:off x="4381500" y="43815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Human validation</a:t>
            </a:r>
          </a:p>
        </p:txBody>
      </p:sp>
      <p:sp>
        <p:nvSpPr>
          <p:cNvPr id="16" name="Business decision">
            <a:extLst xmlns:a="http://schemas.openxmlformats.org/drawingml/2006/main">
              <a:ext uri="{FF2B5EF4-FFF2-40B4-BE49-F238E27FC236}">
                <a16:creationId xmlns:a16="http://schemas.microsoft.com/office/drawing/2014/main" id="{23569517-8E0A-4239-A84A-4C1A5C680C7B}"/>
              </a:ext>
            </a:extLst>
          </p:cNvPr>
          <p:cNvSpPr>
            <a:spLocks xmlns:a="http://schemas.openxmlformats.org/drawingml/2006/main" noGrp="1"/>
          </p:cNvSpPr>
          <p:nvPr/>
        </p:nvSpPr>
        <p:spPr>
          <a:xfrm xmlns:a="http://schemas.openxmlformats.org/drawingml/2006/main">
            <a:off x="8077200" y="4381500"/>
            <a:ext cx="342900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Business decision</a:t>
            </a:r>
          </a:p>
        </p:txBody>
      </p:sp>
      <p:cxnSp>
        <p:nvCxnSpPr>
          <p:cNvPr id="37" name=""/>
          <p:cNvCxnSpPr>
            <a:stCxn xmlns:a="http://schemas.openxmlformats.org/drawingml/2006/main" id="14" idx="3"/>
            <a:endCxn xmlns:a="http://schemas.openxmlformats.org/drawingml/2006/main" id="15" idx="1"/>
          </p:cNvCxnSpPr>
          <p:nvPr/>
        </p:nvCxnSpPr>
        <p:spPr>
          <a:xfrm xmlns:a="http://schemas.openxmlformats.org/drawingml/2006/main">
            <a:off x="4114800" y="48577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38" name=""/>
          <p:cNvCxnSpPr>
            <a:stCxn xmlns:a="http://schemas.openxmlformats.org/drawingml/2006/main" id="15" idx="3"/>
            <a:endCxn xmlns:a="http://schemas.openxmlformats.org/drawingml/2006/main" id="16" idx="1"/>
          </p:cNvCxnSpPr>
          <p:nvPr/>
        </p:nvCxnSpPr>
        <p:spPr>
          <a:xfrm xmlns:a="http://schemas.openxmlformats.org/drawingml/2006/main">
            <a:off x="7810500" y="48577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19" name="Design documented · Prototype simul">
            <a:extLst xmlns:a="http://schemas.openxmlformats.org/drawingml/2006/main">
              <a:ext uri="{FF2B5EF4-FFF2-40B4-BE49-F238E27FC236}">
                <a16:creationId xmlns:a16="http://schemas.microsoft.com/office/drawing/2014/main" id="{F1869302-48B8-46A8-BE45-8F3A3D53AD95}"/>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20" name="05">
            <a:extLst xmlns:a="http://schemas.openxmlformats.org/drawingml/2006/main">
              <a:ext uri="{FF2B5EF4-FFF2-40B4-BE49-F238E27FC236}">
                <a16:creationId xmlns:a16="http://schemas.microsoft.com/office/drawing/2014/main" id="{8742CF6B-F618-4C35-8182-83BB537E223A}"/>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05</a:t>
            </a:r>
          </a:p>
        </p:txBody>
      </p:sp>
    </p:spTree>
    <p:extLst>
      <p:ext uri="{BB962C8B-B14F-4D97-AF65-F5344CB8AC3E}">
        <p14:creationId xmlns:p14="http://schemas.microsoft.com/office/powerpoint/2010/main" val="47429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UILDFLOW  /  INDEPENDENT PORTFOLIO">
            <a:extLst xmlns:a="http://schemas.openxmlformats.org/drawingml/2006/main">
              <a:ext uri="{FF2B5EF4-FFF2-40B4-BE49-F238E27FC236}">
                <a16:creationId xmlns:a16="http://schemas.microsoft.com/office/drawing/2014/main" id="{CBEB5CF4-9514-481A-9FF4-0E3039C34B12}"/>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From design to production">
            <a:extLst xmlns:a="http://schemas.openxmlformats.org/drawingml/2006/main">
              <a:ext uri="{FF2B5EF4-FFF2-40B4-BE49-F238E27FC236}">
                <a16:creationId xmlns:a16="http://schemas.microsoft.com/office/drawing/2014/main" id="{39C39EF4-4E86-4DFA-95CA-8F29F5926F03}"/>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From design to production</a:t>
            </a:r>
          </a:p>
        </p:txBody>
      </p:sp>
      <p:sp>
        <p:nvSpPr>
          <p:cNvPr id="3" name="Readiness depends on user acceptanc">
            <a:extLst xmlns:a="http://schemas.openxmlformats.org/drawingml/2006/main">
              <a:ext uri="{FF2B5EF4-FFF2-40B4-BE49-F238E27FC236}">
                <a16:creationId xmlns:a16="http://schemas.microsoft.com/office/drawing/2014/main" id="{7B8CCD74-E2CE-4130-910B-3BE15EF86D3C}"/>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Readiness depends on user acceptance and support.</a:t>
            </a:r>
          </a:p>
        </p:txBody>
      </p:sp>
      <p:sp>
        <p:nvSpPr>
          <p:cNvPr id="4" name="Training + UAT">
            <a:extLst xmlns:a="http://schemas.openxmlformats.org/drawingml/2006/main">
              <a:ext uri="{FF2B5EF4-FFF2-40B4-BE49-F238E27FC236}">
                <a16:creationId xmlns:a16="http://schemas.microsoft.com/office/drawing/2014/main" id="{21E03480-6054-474E-BDB8-3E79954DE9F4}"/>
              </a:ext>
            </a:extLst>
          </p:cNvPr>
          <p:cNvSpPr>
            <a:spLocks xmlns:a="http://schemas.openxmlformats.org/drawingml/2006/main" noGrp="1"/>
          </p:cNvSpPr>
          <p:nvPr/>
        </p:nvSpPr>
        <p:spPr>
          <a:xfrm xmlns:a="http://schemas.openxmlformats.org/drawingml/2006/main">
            <a:off x="68580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Training + UAT</a:t>
            </a:r>
          </a:p>
        </p:txBody>
      </p:sp>
      <p:sp>
        <p:nvSpPr>
          <p:cNvPr id="5" name="Pilot 1 warehouse&#10;+ 2 sites">
            <a:extLst xmlns:a="http://schemas.openxmlformats.org/drawingml/2006/main">
              <a:ext uri="{FF2B5EF4-FFF2-40B4-BE49-F238E27FC236}">
                <a16:creationId xmlns:a16="http://schemas.microsoft.com/office/drawing/2014/main" id="{1B890BEA-7649-4BDB-9A3B-8216091AFA8C}"/>
              </a:ext>
            </a:extLst>
          </p:cNvPr>
          <p:cNvSpPr>
            <a:spLocks xmlns:a="http://schemas.openxmlformats.org/drawingml/2006/main" noGrp="1"/>
          </p:cNvSpPr>
          <p:nvPr/>
        </p:nvSpPr>
        <p:spPr>
          <a:xfrm xmlns:a="http://schemas.openxmlformats.org/drawingml/2006/main">
            <a:off x="290322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Pilot 1 warehouse</a:t>
            </a:r>
          </a:p>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+ 2 sites</a:t>
            </a:r>
          </a:p>
        </p:txBody>
      </p:sp>
      <p:sp>
        <p:nvSpPr>
          <p:cNvPr id="6" name="Evaluate gates">
            <a:extLst xmlns:a="http://schemas.openxmlformats.org/drawingml/2006/main">
              <a:ext uri="{FF2B5EF4-FFF2-40B4-BE49-F238E27FC236}">
                <a16:creationId xmlns:a16="http://schemas.microsoft.com/office/drawing/2014/main" id="{87707282-7DC3-4A6D-B4BE-E41CEB9F2B25}"/>
              </a:ext>
            </a:extLst>
          </p:cNvPr>
          <p:cNvSpPr>
            <a:spLocks xmlns:a="http://schemas.openxmlformats.org/drawingml/2006/main" noGrp="1"/>
          </p:cNvSpPr>
          <p:nvPr/>
        </p:nvSpPr>
        <p:spPr>
          <a:xfrm xmlns:a="http://schemas.openxmlformats.org/drawingml/2006/main">
            <a:off x="512064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Evaluate gates</a:t>
            </a:r>
          </a:p>
        </p:txBody>
      </p:sp>
      <p:sp>
        <p:nvSpPr>
          <p:cNvPr id="7" name="Phased rollout">
            <a:extLst xmlns:a="http://schemas.openxmlformats.org/drawingml/2006/main">
              <a:ext uri="{FF2B5EF4-FFF2-40B4-BE49-F238E27FC236}">
                <a16:creationId xmlns:a16="http://schemas.microsoft.com/office/drawing/2014/main" id="{D7D1BFA9-044C-415E-84A3-FC784BC8DF12}"/>
              </a:ext>
            </a:extLst>
          </p:cNvPr>
          <p:cNvSpPr>
            <a:spLocks xmlns:a="http://schemas.openxmlformats.org/drawingml/2006/main" noGrp="1"/>
          </p:cNvSpPr>
          <p:nvPr/>
        </p:nvSpPr>
        <p:spPr>
          <a:xfrm xmlns:a="http://schemas.openxmlformats.org/drawingml/2006/main">
            <a:off x="733806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Phased rollout</a:t>
            </a:r>
          </a:p>
        </p:txBody>
      </p:sp>
      <p:sp>
        <p:nvSpPr>
          <p:cNvPr id="8" name="Hypercare">
            <a:extLst xmlns:a="http://schemas.openxmlformats.org/drawingml/2006/main">
              <a:ext uri="{FF2B5EF4-FFF2-40B4-BE49-F238E27FC236}">
                <a16:creationId xmlns:a16="http://schemas.microsoft.com/office/drawing/2014/main" id="{67C720A9-B448-4B39-BA8E-2361DDF6DF92}"/>
              </a:ext>
            </a:extLst>
          </p:cNvPr>
          <p:cNvSpPr>
            <a:spLocks xmlns:a="http://schemas.openxmlformats.org/drawingml/2006/main" noGrp="1"/>
          </p:cNvSpPr>
          <p:nvPr/>
        </p:nvSpPr>
        <p:spPr>
          <a:xfrm xmlns:a="http://schemas.openxmlformats.org/drawingml/2006/main">
            <a:off x="9555480" y="2286000"/>
            <a:ext cx="1950720" cy="952500"/>
          </a:xfrm>
          <a:prstGeom xmlns:a="http://schemas.openxmlformats.org/drawingml/2006/main" prst="roundRect">
            <a:avLst>
              <a:gd name="adj" fmla="val 8000"/>
            </a:avLst>
          </a:prstGeom>
          <a:solidFill xmlns:a="http://schemas.openxmlformats.org/drawingml/2006/main">
            <a:srgbClr val="F1F6F8"/>
          </a:solidFill>
          <a:ln xmlns:a="http://schemas.openxmlformats.org/drawingml/2006/main" w="9525">
            <a:solidFill>
              <a:srgbClr val="DCE5EB"/>
            </a:solidFill>
          </a:ln>
        </p:spPr>
        <p:txBody>
          <a:bodyPr xmlns:a="http://schemas.openxmlformats.org/drawingml/2006/main">
            <a:noAutofit/>
          </a:bodyPr>
          <a:lstStyle xmlns:a="http://schemas.openxmlformats.org/drawingml/2006/main"/>
          <a:p xmlns:a="http://schemas.openxmlformats.org/drawingml/2006/main">
            <a:pPr>
              <a:defRPr sz="1800" b="1">
                <a:solidFill>
                  <a:srgbClr val="102536"/>
                </a:solidFill>
                <a:latin typeface="Arial"/>
                <a:ea typeface="Arial"/>
                <a:cs typeface="Arial"/>
              </a:defRPr>
            </a:pPr>
            <a:r>
              <a:rPr sz="1800" b="1">
                <a:solidFill>
                  <a:srgbClr val="102536"/>
                </a:solidFill>
                <a:latin typeface="Arial"/>
                <a:ea typeface="Arial"/>
                <a:cs typeface="Arial"/>
              </a:rPr>
              <a:t>Hypercare</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263652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485394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707136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9288780" y="2762250"/>
            <a:ext cx="266700" cy="0"/>
          </a:xfrm>
          <a:prstGeom xmlns:a="http://schemas.openxmlformats.org/drawingml/2006/main" prst="straightConnector1">
            <a:avLst/>
          </a:prstGeom>
          <a:ln xmlns:a="http://schemas.openxmlformats.org/drawingml/2006/main" w="19050">
            <a:solidFill>
              <a:srgbClr val="087F8C"/>
            </a:solidFill>
            <a:tailEnd type="triangle" w="sm" len="sm"/>
          </a:ln>
        </p:spPr>
      </p:cxnSp>
      <p:sp>
        <p:nvSpPr>
          <p:cNvPr id="13" name="24 prepared UAT scenarios  ·  Migra">
            <a:extLst xmlns:a="http://schemas.openxmlformats.org/drawingml/2006/main">
              <a:ext uri="{FF2B5EF4-FFF2-40B4-BE49-F238E27FC236}">
                <a16:creationId xmlns:a16="http://schemas.microsoft.com/office/drawing/2014/main" id="{8A8C8F59-054C-4237-9E12-D13062679E4C}"/>
              </a:ext>
            </a:extLst>
          </p:cNvPr>
          <p:cNvSpPr>
            <a:spLocks xmlns:a="http://schemas.openxmlformats.org/drawingml/2006/main" noGrp="1"/>
          </p:cNvSpPr>
          <p:nvPr/>
        </p:nvSpPr>
        <p:spPr>
          <a:xfrm xmlns:a="http://schemas.openxmlformats.org/drawingml/2006/main">
            <a:off x="685800" y="37147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24 prepared UAT scenarios  ·  Migration + rollback plan</a:t>
            </a:r>
          </a:p>
        </p:txBody>
      </p:sp>
      <p:sp>
        <p:nvSpPr>
          <p:cNvPr id="14" name="Business UAT remains pending. Measu">
            <a:extLst xmlns:a="http://schemas.openxmlformats.org/drawingml/2006/main">
              <a:ext uri="{FF2B5EF4-FFF2-40B4-BE49-F238E27FC236}">
                <a16:creationId xmlns:a16="http://schemas.microsoft.com/office/drawing/2014/main" id="{317D9D11-E9E1-4340-81A5-BE25AEA33A41}"/>
              </a:ext>
            </a:extLst>
          </p:cNvPr>
          <p:cNvSpPr>
            <a:spLocks xmlns:a="http://schemas.openxmlformats.org/drawingml/2006/main" noGrp="1"/>
          </p:cNvSpPr>
          <p:nvPr/>
        </p:nvSpPr>
        <p:spPr>
          <a:xfrm xmlns:a="http://schemas.openxmlformats.org/drawingml/2006/main">
            <a:off x="685800" y="45720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536"/>
                </a:solidFill>
                <a:latin typeface="Arial"/>
                <a:ea typeface="Arial"/>
                <a:cs typeface="Arial"/>
              </a:defRPr>
            </a:pPr>
            <a:r>
              <a:rPr sz="2025" b="0">
                <a:solidFill>
                  <a:srgbClr val="102536"/>
                </a:solidFill>
                <a:latin typeface="Arial"/>
                <a:ea typeface="Arial"/>
                <a:cs typeface="Arial"/>
              </a:rPr>
              <a:t>Business UAT remains pending. Measure task success, exceptions</a:t>
            </a:r>
          </a:p>
          <a:p xmlns:a="http://schemas.openxmlformats.org/drawingml/2006/main">
            <a:pPr>
              <a:defRPr sz="2025" b="0">
                <a:solidFill>
                  <a:srgbClr val="102536"/>
                </a:solidFill>
                <a:latin typeface="Arial"/>
                <a:ea typeface="Arial"/>
                <a:cs typeface="Arial"/>
              </a:defRPr>
            </a:pPr>
            <a:r>
              <a:rPr sz="2025" b="0">
                <a:solidFill>
                  <a:srgbClr val="102536"/>
                </a:solidFill>
                <a:latin typeface="Arial"/>
                <a:ea typeface="Arial"/>
                <a:cs typeface="Arial"/>
              </a:rPr>
              <a:t>and adoption at 30 / 60 / 90 days.</a:t>
            </a:r>
          </a:p>
        </p:txBody>
      </p:sp>
      <p:sp>
        <p:nvSpPr>
          <p:cNvPr id="15" name="Design documented · Prototype simul">
            <a:extLst xmlns:a="http://schemas.openxmlformats.org/drawingml/2006/main">
              <a:ext uri="{FF2B5EF4-FFF2-40B4-BE49-F238E27FC236}">
                <a16:creationId xmlns:a16="http://schemas.microsoft.com/office/drawing/2014/main" id="{D25FE68E-8120-4C7D-9B3B-8D04A7225161}"/>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16" name="06">
            <a:extLst xmlns:a="http://schemas.openxmlformats.org/drawingml/2006/main">
              <a:ext uri="{FF2B5EF4-FFF2-40B4-BE49-F238E27FC236}">
                <a16:creationId xmlns:a16="http://schemas.microsoft.com/office/drawing/2014/main" id="{3438DF59-4693-4921-A70F-9CA47EFA3ABD}"/>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06</a:t>
            </a:r>
          </a:p>
        </p:txBody>
      </p:sp>
    </p:spTree>
    <p:extLst>
      <p:ext uri="{BB962C8B-B14F-4D97-AF65-F5344CB8AC3E}">
        <p14:creationId xmlns:p14="http://schemas.microsoft.com/office/powerpoint/2010/main" val="11553281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UILDFLOW  /  INDEPENDENT PORTFOLIO">
            <a:extLst xmlns:a="http://schemas.openxmlformats.org/drawingml/2006/main">
              <a:ext uri="{FF2B5EF4-FFF2-40B4-BE49-F238E27FC236}">
                <a16:creationId xmlns:a16="http://schemas.microsoft.com/office/drawing/2014/main" id="{B34B7C72-2A83-4503-8DC0-07ED09280077}"/>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Business value">
            <a:extLst xmlns:a="http://schemas.openxmlformats.org/drawingml/2006/main">
              <a:ext uri="{FF2B5EF4-FFF2-40B4-BE49-F238E27FC236}">
                <a16:creationId xmlns:a16="http://schemas.microsoft.com/office/drawing/2014/main" id="{48287852-7DBD-4631-9383-63639CDD2E9E}"/>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Business value</a:t>
            </a:r>
          </a:p>
        </p:txBody>
      </p:sp>
      <p:sp>
        <p:nvSpPr>
          <p:cNvPr id="3" name="Targets require a baseline and foll">
            <a:extLst xmlns:a="http://schemas.openxmlformats.org/drawingml/2006/main">
              <a:ext uri="{FF2B5EF4-FFF2-40B4-BE49-F238E27FC236}">
                <a16:creationId xmlns:a16="http://schemas.microsoft.com/office/drawing/2014/main" id="{F2E664A3-0023-4DCB-98B9-A10650863836}"/>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Targets require a baseline and follow-up measurement.</a:t>
            </a:r>
          </a:p>
        </p:txBody>
      </p:sp>
      <p:graphicFrame>
        <p:nvGraphicFramePr>
          <p:cNvPr id="12" name=""/>
          <p:cNvGraphicFramePr/>
          <p:nvPr/>
        </p:nvGraphicFramePr>
        <p:xfrm>
          <a:off xmlns:a="http://schemas.openxmlformats.org/drawingml/2006/main" x="685800" y="2238375"/>
          <a:ext xmlns:a="http://schemas.openxmlformats.org/drawingml/2006/main" cx="10820400" cy="1981200"/>
        </p:xfrm>
        <a:graphic xmlns:a="http://schemas.openxmlformats.org/drawingml/2006/main">
          <a:graphicData uri="http://schemas.openxmlformats.org/drawingml/2006/table">
            <a:tbl>
              <a:tblPr/>
              <a:tblGrid>
                <a:gridCol w="2705100"/>
                <a:gridCol w="2705100"/>
                <a:gridCol w="2705100"/>
                <a:gridCol w="2705100"/>
              </a:tblGrid>
              <a:tr h="495300">
                <a:tc>
                  <a:txBody>
                    <a:bodyPr/>
                    <a:lstStyle/>
                    <a:p>
                      <a:r>
                        <a:rPr sz="1800" b="1">
                          <a:solidFill>
                            <a:srgbClr val="FFFFFF"/>
                          </a:solidFill>
                          <a:latin typeface="Arial"/>
                          <a:ea typeface="Arial"/>
                          <a:cs typeface="Arial"/>
                        </a:rPr>
                        <a:t>Measure</a:t>
                      </a:r>
                    </a:p>
                  </a:txBody>
                  <a:tcPr marL="114300" marR="114300" marT="76200" marB="76200">
                    <a:solidFill>
                      <a:srgbClr val="102536"/>
                    </a:solidFill>
                  </a:tcPr>
                </a:tc>
                <a:tc>
                  <a:txBody>
                    <a:bodyPr/>
                    <a:lstStyle/>
                    <a:p>
                      <a:r>
                        <a:rPr sz="1800" b="1">
                          <a:solidFill>
                            <a:srgbClr val="FFFFFF"/>
                          </a:solidFill>
                          <a:latin typeface="Arial"/>
                          <a:ea typeface="Arial"/>
                          <a:cs typeface="Arial"/>
                        </a:rPr>
                        <a:t>Baseline</a:t>
                      </a:r>
                    </a:p>
                  </a:txBody>
                  <a:tcPr marL="114300" marR="114300" marT="76200" marB="76200">
                    <a:solidFill>
                      <a:srgbClr val="102536"/>
                    </a:solidFill>
                  </a:tcPr>
                </a:tc>
                <a:tc>
                  <a:txBody>
                    <a:bodyPr/>
                    <a:lstStyle/>
                    <a:p>
                      <a:r>
                        <a:rPr sz="1800" b="1">
                          <a:solidFill>
                            <a:srgbClr val="FFFFFF"/>
                          </a:solidFill>
                          <a:latin typeface="Arial"/>
                          <a:ea typeface="Arial"/>
                          <a:cs typeface="Arial"/>
                        </a:rPr>
                        <a:t>Target</a:t>
                      </a:r>
                    </a:p>
                  </a:txBody>
                  <a:tcPr marL="114300" marR="114300" marT="76200" marB="76200">
                    <a:solidFill>
                      <a:srgbClr val="102536"/>
                    </a:solidFill>
                  </a:tcPr>
                </a:tc>
                <a:tc>
                  <a:txBody>
                    <a:bodyPr/>
                    <a:lstStyle/>
                    <a:p>
                      <a:r>
                        <a:rPr sz="1800" b="1">
                          <a:solidFill>
                            <a:srgbClr val="FFFFFF"/>
                          </a:solidFill>
                          <a:latin typeface="Arial"/>
                          <a:ea typeface="Arial"/>
                          <a:cs typeface="Arial"/>
                        </a:rPr>
                        <a:t>Owner</a:t>
                      </a:r>
                    </a:p>
                  </a:txBody>
                  <a:tcPr marL="114300" marR="114300" marT="76200" marB="76200">
                    <a:solidFill>
                      <a:srgbClr val="102536"/>
                    </a:solidFill>
                  </a:tcPr>
                </a:tc>
              </a:tr>
              <a:tr h="495300">
                <a:tc>
                  <a:txBody>
                    <a:bodyPr/>
                    <a:lstStyle/>
                    <a:p>
                      <a:r>
                        <a:rPr sz="1800">
                          <a:solidFill>
                            <a:srgbClr val="102536"/>
                          </a:solidFill>
                          <a:latin typeface="Arial"/>
                          <a:ea typeface="Arial"/>
                          <a:cs typeface="Arial"/>
                        </a:rPr>
                        <a:t>Inventory accuracy</a:t>
                      </a:r>
                    </a:p>
                  </a:txBody>
                  <a:tcPr marL="114300" marR="114300" marT="76200" marB="76200"/>
                </a:tc>
                <a:tc>
                  <a:txBody>
                    <a:bodyPr/>
                    <a:lstStyle/>
                    <a:p>
                      <a:r>
                        <a:rPr sz="1800">
                          <a:solidFill>
                            <a:srgbClr val="102536"/>
                          </a:solidFill>
                          <a:latin typeface="Arial"/>
                          <a:ea typeface="Arial"/>
                          <a:cs typeface="Arial"/>
                        </a:rPr>
                        <a:t>92%</a:t>
                      </a:r>
                    </a:p>
                  </a:txBody>
                  <a:tcPr marL="114300" marR="114300" marT="76200" marB="76200"/>
                </a:tc>
                <a:tc>
                  <a:txBody>
                    <a:bodyPr/>
                    <a:lstStyle/>
                    <a:p>
                      <a:r>
                        <a:rPr sz="1800">
                          <a:solidFill>
                            <a:srgbClr val="102536"/>
                          </a:solidFill>
                          <a:latin typeface="Arial"/>
                          <a:ea typeface="Arial"/>
                          <a:cs typeface="Arial"/>
                        </a:rPr>
                        <a:t>≥98%</a:t>
                      </a:r>
                    </a:p>
                  </a:txBody>
                  <a:tcPr marL="114300" marR="114300" marT="76200" marB="76200"/>
                </a:tc>
                <a:tc>
                  <a:txBody>
                    <a:bodyPr/>
                    <a:lstStyle/>
                    <a:p>
                      <a:r>
                        <a:rPr sz="1800">
                          <a:solidFill>
                            <a:srgbClr val="102536"/>
                          </a:solidFill>
                          <a:latin typeface="Arial"/>
                          <a:ea typeface="Arial"/>
                          <a:cs typeface="Arial"/>
                        </a:rPr>
                        <a:t>Warehouse</a:t>
                      </a:r>
                    </a:p>
                  </a:txBody>
                  <a:tcPr marL="114300" marR="114300" marT="76200" marB="76200"/>
                </a:tc>
              </a:tr>
              <a:tr h="495300">
                <a:tc>
                  <a:txBody>
                    <a:bodyPr/>
                    <a:lstStyle/>
                    <a:p>
                      <a:r>
                        <a:rPr sz="1800">
                          <a:solidFill>
                            <a:srgbClr val="102536"/>
                          </a:solidFill>
                          <a:latin typeface="Arial"/>
                          <a:ea typeface="Arial"/>
                          <a:cs typeface="Arial"/>
                        </a:rPr>
                        <a:t>Claim resolution time</a:t>
                      </a:r>
                    </a:p>
                  </a:txBody>
                  <a:tcPr marL="114300" marR="114300" marT="76200" marB="76200"/>
                </a:tc>
                <a:tc>
                  <a:txBody>
                    <a:bodyPr/>
                    <a:lstStyle/>
                    <a:p>
                      <a:r>
                        <a:rPr sz="1800">
                          <a:solidFill>
                            <a:srgbClr val="102536"/>
                          </a:solidFill>
                          <a:latin typeface="Arial"/>
                          <a:ea typeface="Arial"/>
                          <a:cs typeface="Arial"/>
                        </a:rPr>
                        <a:t>18 business days</a:t>
                      </a:r>
                    </a:p>
                  </a:txBody>
                  <a:tcPr marL="114300" marR="114300" marT="76200" marB="76200"/>
                </a:tc>
                <a:tc>
                  <a:txBody>
                    <a:bodyPr/>
                    <a:lstStyle/>
                    <a:p>
                      <a:r>
                        <a:rPr sz="1800">
                          <a:solidFill>
                            <a:srgbClr val="102536"/>
                          </a:solidFill>
                          <a:latin typeface="Arial"/>
                          <a:ea typeface="Arial"/>
                          <a:cs typeface="Arial"/>
                        </a:rPr>
                        <a:t>≤10 business days</a:t>
                      </a:r>
                    </a:p>
                  </a:txBody>
                  <a:tcPr marL="114300" marR="114300" marT="76200" marB="76200"/>
                </a:tc>
                <a:tc>
                  <a:txBody>
                    <a:bodyPr/>
                    <a:lstStyle/>
                    <a:p>
                      <a:r>
                        <a:rPr sz="1800">
                          <a:solidFill>
                            <a:srgbClr val="102536"/>
                          </a:solidFill>
                          <a:latin typeface="Arial"/>
                          <a:ea typeface="Arial"/>
                          <a:cs typeface="Arial"/>
                        </a:rPr>
                        <a:t>Operations</a:t>
                      </a:r>
                    </a:p>
                  </a:txBody>
                  <a:tcPr marL="114300" marR="114300" marT="76200" marB="76200"/>
                </a:tc>
              </a:tr>
              <a:tr h="495300">
                <a:tc>
                  <a:txBody>
                    <a:bodyPr/>
                    <a:lstStyle/>
                    <a:p>
                      <a:r>
                        <a:rPr sz="1800">
                          <a:solidFill>
                            <a:srgbClr val="102536"/>
                          </a:solidFill>
                          <a:latin typeface="Arial"/>
                          <a:ea typeface="Arial"/>
                          <a:cs typeface="Arial"/>
                        </a:rPr>
                        <a:t>Same-shift capture</a:t>
                      </a:r>
                    </a:p>
                  </a:txBody>
                  <a:tcPr marL="114300" marR="114300" marT="76200" marB="76200"/>
                </a:tc>
                <a:tc>
                  <a:txBody>
                    <a:bodyPr/>
                    <a:lstStyle/>
                    <a:p>
                      <a:r>
                        <a:rPr sz="1800">
                          <a:solidFill>
                            <a:srgbClr val="102536"/>
                          </a:solidFill>
                          <a:latin typeface="Arial"/>
                          <a:ea typeface="Arial"/>
                          <a:cs typeface="Arial"/>
                        </a:rPr>
                        <a:t>55%</a:t>
                      </a:r>
                    </a:p>
                  </a:txBody>
                  <a:tcPr marL="114300" marR="114300" marT="76200" marB="76200"/>
                </a:tc>
                <a:tc>
                  <a:txBody>
                    <a:bodyPr/>
                    <a:lstStyle/>
                    <a:p>
                      <a:r>
                        <a:rPr sz="1800">
                          <a:solidFill>
                            <a:srgbClr val="102536"/>
                          </a:solidFill>
                          <a:latin typeface="Arial"/>
                          <a:ea typeface="Arial"/>
                          <a:cs typeface="Arial"/>
                        </a:rPr>
                        <a:t>≥95%</a:t>
                      </a:r>
                    </a:p>
                  </a:txBody>
                  <a:tcPr marL="114300" marR="114300" marT="76200" marB="76200"/>
                </a:tc>
                <a:tc>
                  <a:txBody>
                    <a:bodyPr/>
                    <a:lstStyle/>
                    <a:p>
                      <a:r>
                        <a:rPr sz="1800">
                          <a:solidFill>
                            <a:srgbClr val="102536"/>
                          </a:solidFill>
                          <a:latin typeface="Arial"/>
                          <a:ea typeface="Arial"/>
                          <a:cs typeface="Arial"/>
                        </a:rPr>
                        <a:t>Warehouse</a:t>
                      </a:r>
                    </a:p>
                  </a:txBody>
                  <a:tcPr marL="114300" marR="114300" marT="76200" marB="76200"/>
                </a:tc>
              </a:tr>
            </a:tbl>
          </a:graphicData>
        </a:graphic>
      </p:graphicFrame>
      <p:sp>
        <p:nvSpPr>
          <p:cNvPr id="5" name="Illustrative assumptions and target">
            <a:extLst xmlns:a="http://schemas.openxmlformats.org/drawingml/2006/main">
              <a:ext uri="{FF2B5EF4-FFF2-40B4-BE49-F238E27FC236}">
                <a16:creationId xmlns:a16="http://schemas.microsoft.com/office/drawing/2014/main" id="{A9394032-29AC-4DD7-99C3-F79EDFBD6192}"/>
              </a:ext>
            </a:extLst>
          </p:cNvPr>
          <p:cNvSpPr>
            <a:spLocks xmlns:a="http://schemas.openxmlformats.org/drawingml/2006/main" noGrp="1"/>
          </p:cNvSpPr>
          <p:nvPr/>
        </p:nvSpPr>
        <p:spPr>
          <a:xfrm xmlns:a="http://schemas.openxmlformats.org/drawingml/2006/main">
            <a:off x="685800" y="4619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Illustrative assumptions and targets; no achieved client results.</a:t>
            </a:r>
          </a:p>
        </p:txBody>
      </p:sp>
      <p:sp>
        <p:nvSpPr>
          <p:cNvPr id="6" name="Separate cash avoidance from releas">
            <a:extLst xmlns:a="http://schemas.openxmlformats.org/drawingml/2006/main">
              <a:ext uri="{FF2B5EF4-FFF2-40B4-BE49-F238E27FC236}">
                <a16:creationId xmlns:a16="http://schemas.microsoft.com/office/drawing/2014/main" id="{F34496AD-B8A7-45E5-B40A-6EA583C8D1E0}"/>
              </a:ext>
            </a:extLst>
          </p:cNvPr>
          <p:cNvSpPr>
            <a:spLocks xmlns:a="http://schemas.openxmlformats.org/drawingml/2006/main" noGrp="1"/>
          </p:cNvSpPr>
          <p:nvPr/>
        </p:nvSpPr>
        <p:spPr>
          <a:xfrm xmlns:a="http://schemas.openxmlformats.org/drawingml/2006/main">
            <a:off x="685800" y="52863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536"/>
                </a:solidFill>
                <a:latin typeface="Arial"/>
                <a:ea typeface="Arial"/>
                <a:cs typeface="Arial"/>
              </a:defRPr>
            </a:pPr>
            <a:r>
              <a:rPr sz="1875" b="0">
                <a:solidFill>
                  <a:srgbClr val="102536"/>
                </a:solidFill>
                <a:latin typeface="Arial"/>
                <a:ea typeface="Arial"/>
                <a:cs typeface="Arial"/>
              </a:rPr>
              <a:t>Separate cash avoidance from released capacity.</a:t>
            </a:r>
          </a:p>
        </p:txBody>
      </p:sp>
      <p:sp>
        <p:nvSpPr>
          <p:cNvPr id="7" name="Design documented · Prototype simul">
            <a:extLst xmlns:a="http://schemas.openxmlformats.org/drawingml/2006/main">
              <a:ext uri="{FF2B5EF4-FFF2-40B4-BE49-F238E27FC236}">
                <a16:creationId xmlns:a16="http://schemas.microsoft.com/office/drawing/2014/main" id="{1784C29E-52EE-4EB8-AF40-EE0F62EB6394}"/>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8" name="07">
            <a:extLst xmlns:a="http://schemas.openxmlformats.org/drawingml/2006/main">
              <a:ext uri="{FF2B5EF4-FFF2-40B4-BE49-F238E27FC236}">
                <a16:creationId xmlns:a16="http://schemas.microsoft.com/office/drawing/2014/main" id="{AA60F8DD-F5EE-4515-99E1-178728478221}"/>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07</a:t>
            </a:r>
          </a:p>
        </p:txBody>
      </p:sp>
    </p:spTree>
    <p:extLst>
      <p:ext uri="{BB962C8B-B14F-4D97-AF65-F5344CB8AC3E}">
        <p14:creationId xmlns:p14="http://schemas.microsoft.com/office/powerpoint/2010/main" val="6401532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UILDFLOW  /  INDEPENDENT PORTFOLIO">
            <a:extLst xmlns:a="http://schemas.openxmlformats.org/drawingml/2006/main">
              <a:ext uri="{FF2B5EF4-FFF2-40B4-BE49-F238E27FC236}">
                <a16:creationId xmlns:a16="http://schemas.microsoft.com/office/drawing/2014/main" id="{41F8DE6B-044B-4E07-8610-57ACC7A8294B}"/>
              </a:ext>
            </a:extLst>
          </p:cNvPr>
          <p:cNvSpPr>
            <a:spLocks xmlns:a="http://schemas.openxmlformats.org/drawingml/2006/main" noGrp="1"/>
          </p:cNvSpPr>
          <p:nvPr/>
        </p:nvSpPr>
        <p:spPr>
          <a:xfrm xmlns:a="http://schemas.openxmlformats.org/drawingml/2006/main">
            <a:off x="685800" y="285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87F8C"/>
                </a:solidFill>
                <a:latin typeface="Arial"/>
                <a:ea typeface="Arial"/>
                <a:cs typeface="Arial"/>
              </a:defRPr>
            </a:pPr>
            <a:r>
              <a:rPr sz="1200" b="1">
                <a:solidFill>
                  <a:srgbClr val="087F8C"/>
                </a:solidFill>
                <a:latin typeface="Arial"/>
                <a:ea typeface="Arial"/>
                <a:cs typeface="Arial"/>
              </a:rPr>
              <a:t>BUILDFLOW  /  INDEPENDENT PORTFOLIO CASE</a:t>
            </a:r>
          </a:p>
        </p:txBody>
      </p:sp>
      <p:sp>
        <p:nvSpPr>
          <p:cNvPr id="2" name="Why this case matters">
            <a:extLst xmlns:a="http://schemas.openxmlformats.org/drawingml/2006/main">
              <a:ext uri="{FF2B5EF4-FFF2-40B4-BE49-F238E27FC236}">
                <a16:creationId xmlns:a16="http://schemas.microsoft.com/office/drawing/2014/main" id="{9EFA8FA4-1050-497F-A101-D40E32B132FF}"/>
              </a:ext>
            </a:extLst>
          </p:cNvPr>
          <p:cNvSpPr>
            <a:spLocks xmlns:a="http://schemas.openxmlformats.org/drawingml/2006/main" noGrp="1"/>
          </p:cNvSpPr>
          <p:nvPr/>
        </p:nvSpPr>
        <p:spPr>
          <a:xfrm xmlns:a="http://schemas.openxmlformats.org/drawingml/2006/main">
            <a:off x="685800" y="819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536"/>
                </a:solidFill>
                <a:latin typeface="Arial"/>
                <a:ea typeface="Arial"/>
                <a:cs typeface="Arial"/>
              </a:defRPr>
            </a:pPr>
            <a:r>
              <a:rPr sz="3300" b="1">
                <a:solidFill>
                  <a:srgbClr val="102536"/>
                </a:solidFill>
                <a:latin typeface="Arial"/>
                <a:ea typeface="Arial"/>
                <a:cs typeface="Arial"/>
              </a:rPr>
              <a:t>Why this case matters</a:t>
            </a:r>
          </a:p>
        </p:txBody>
      </p:sp>
      <p:sp>
        <p:nvSpPr>
          <p:cNvPr id="3" name="One traceable journey connects busi">
            <a:extLst xmlns:a="http://schemas.openxmlformats.org/drawingml/2006/main">
              <a:ext uri="{FF2B5EF4-FFF2-40B4-BE49-F238E27FC236}">
                <a16:creationId xmlns:a16="http://schemas.microsoft.com/office/drawing/2014/main" id="{2A9EF24C-6678-4257-8EF3-1D9ED0903EA7}"/>
              </a:ext>
            </a:extLst>
          </p:cNvPr>
          <p:cNvSpPr>
            <a:spLocks xmlns:a="http://schemas.openxmlformats.org/drawingml/2006/main" noGrp="1"/>
          </p:cNvSpPr>
          <p:nvPr/>
        </p:nvSpPr>
        <p:spPr>
          <a:xfrm xmlns:a="http://schemas.openxmlformats.org/drawingml/2006/main">
            <a:off x="685800" y="15240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F7382"/>
                </a:solidFill>
                <a:latin typeface="Arial"/>
                <a:ea typeface="Arial"/>
                <a:cs typeface="Arial"/>
              </a:defRPr>
            </a:pPr>
            <a:r>
              <a:rPr sz="2025" b="0">
                <a:solidFill>
                  <a:srgbClr val="5F7382"/>
                </a:solidFill>
                <a:latin typeface="Arial"/>
                <a:ea typeface="Arial"/>
                <a:cs typeface="Arial"/>
              </a:rPr>
              <a:t>One traceable journey connects business and IT.</a:t>
            </a:r>
          </a:p>
        </p:txBody>
      </p:sp>
      <p:graphicFrame>
        <p:nvGraphicFramePr>
          <p:cNvPr id="10" name=""/>
          <p:cNvGraphicFramePr/>
          <p:nvPr/>
        </p:nvGraphicFramePr>
        <p:xfrm>
          <a:off xmlns:a="http://schemas.openxmlformats.org/drawingml/2006/main" x="685800" y="2114550"/>
          <a:ext xmlns:a="http://schemas.openxmlformats.org/drawingml/2006/main" cx="10820400" cy="3467100"/>
        </p:xfrm>
        <a:graphic xmlns:a="http://schemas.openxmlformats.org/drawingml/2006/main">
          <a:graphicData uri="http://schemas.openxmlformats.org/drawingml/2006/table">
            <a:tbl>
              <a:tblPr/>
              <a:tblGrid>
                <a:gridCol w="5410200"/>
                <a:gridCol w="5410200"/>
              </a:tblGrid>
              <a:tr h="495300">
                <a:tc>
                  <a:txBody>
                    <a:bodyPr/>
                    <a:lstStyle/>
                    <a:p>
                      <a:r>
                        <a:rPr sz="1800" b="1">
                          <a:solidFill>
                            <a:srgbClr val="FFFFFF"/>
                          </a:solidFill>
                          <a:latin typeface="Arial"/>
                          <a:ea typeface="Arial"/>
                          <a:cs typeface="Arial"/>
                        </a:rPr>
                        <a:t>Role capability</a:t>
                      </a:r>
                    </a:p>
                  </a:txBody>
                  <a:tcPr marL="114300" marR="114300" marT="76200" marB="76200">
                    <a:solidFill>
                      <a:srgbClr val="102536"/>
                    </a:solidFill>
                  </a:tcPr>
                </a:tc>
                <a:tc>
                  <a:txBody>
                    <a:bodyPr/>
                    <a:lstStyle/>
                    <a:p>
                      <a:r>
                        <a:rPr sz="1800" b="1">
                          <a:solidFill>
                            <a:srgbClr val="FFFFFF"/>
                          </a:solidFill>
                          <a:latin typeface="Arial"/>
                          <a:ea typeface="Arial"/>
                          <a:cs typeface="Arial"/>
                        </a:rPr>
                        <a:t>Evidence</a:t>
                      </a:r>
                    </a:p>
                  </a:txBody>
                  <a:tcPr marL="114300" marR="114300" marT="76200" marB="76200">
                    <a:solidFill>
                      <a:srgbClr val="102536"/>
                    </a:solidFill>
                  </a:tcPr>
                </a:tc>
              </a:tr>
              <a:tr h="495300">
                <a:tc>
                  <a:txBody>
                    <a:bodyPr/>
                    <a:lstStyle/>
                    <a:p>
                      <a:r>
                        <a:rPr sz="1800">
                          <a:solidFill>
                            <a:srgbClr val="102536"/>
                          </a:solidFill>
                          <a:latin typeface="Arial"/>
                          <a:ea typeface="Arial"/>
                          <a:cs typeface="Arial"/>
                        </a:rPr>
                        <a:t>Discover + analyse</a:t>
                      </a:r>
                    </a:p>
                  </a:txBody>
                  <a:tcPr marL="114300" marR="114300" marT="76200" marB="76200"/>
                </a:tc>
                <a:tc>
                  <a:txBody>
                    <a:bodyPr/>
                    <a:lstStyle/>
                    <a:p>
                      <a:r>
                        <a:rPr sz="1800">
                          <a:solidFill>
                            <a:srgbClr val="102536"/>
                          </a:solidFill>
                          <a:latin typeface="Arial"/>
                          <a:ea typeface="Arial"/>
                          <a:cs typeface="Arial"/>
                        </a:rPr>
                        <a:t>Workshop + traceability</a:t>
                      </a:r>
                    </a:p>
                  </a:txBody>
                  <a:tcPr marL="114300" marR="114300" marT="76200" marB="76200"/>
                </a:tc>
              </a:tr>
              <a:tr h="495300">
                <a:tc>
                  <a:txBody>
                    <a:bodyPr/>
                    <a:lstStyle/>
                    <a:p>
                      <a:r>
                        <a:rPr sz="1800">
                          <a:solidFill>
                            <a:srgbClr val="102536"/>
                          </a:solidFill>
                          <a:latin typeface="Arial"/>
                          <a:ea typeface="Arial"/>
                          <a:cs typeface="Arial"/>
                        </a:rPr>
                        <a:t>Model processes</a:t>
                      </a:r>
                    </a:p>
                  </a:txBody>
                  <a:tcPr marL="114300" marR="114300" marT="76200" marB="76200"/>
                </a:tc>
                <a:tc>
                  <a:txBody>
                    <a:bodyPr/>
                    <a:lstStyle/>
                    <a:p>
                      <a:r>
                        <a:rPr sz="1800">
                          <a:solidFill>
                            <a:srgbClr val="102536"/>
                          </a:solidFill>
                          <a:latin typeface="Arial"/>
                          <a:ea typeface="Arial"/>
                          <a:cs typeface="Arial"/>
                        </a:rPr>
                        <a:t>BPMN + exception paths</a:t>
                      </a:r>
                    </a:p>
                  </a:txBody>
                  <a:tcPr marL="114300" marR="114300" marT="76200" marB="76200"/>
                </a:tc>
              </a:tr>
              <a:tr h="495300">
                <a:tc>
                  <a:txBody>
                    <a:bodyPr/>
                    <a:lstStyle/>
                    <a:p>
                      <a:r>
                        <a:rPr sz="1800">
                          <a:solidFill>
                            <a:srgbClr val="102536"/>
                          </a:solidFill>
                          <a:latin typeface="Arial"/>
                          <a:ea typeface="Arial"/>
                          <a:cs typeface="Arial"/>
                        </a:rPr>
                        <a:t>Translate business to IT</a:t>
                      </a:r>
                    </a:p>
                  </a:txBody>
                  <a:tcPr marL="114300" marR="114300" marT="76200" marB="76200"/>
                </a:tc>
                <a:tc>
                  <a:txBody>
                    <a:bodyPr/>
                    <a:lstStyle/>
                    <a:p>
                      <a:r>
                        <a:rPr sz="1800">
                          <a:solidFill>
                            <a:srgbClr val="102536"/>
                          </a:solidFill>
                          <a:latin typeface="Arial"/>
                          <a:ea typeface="Arial"/>
                          <a:cs typeface="Arial"/>
                        </a:rPr>
                        <a:t>Architecture + API / ERP contracts</a:t>
                      </a:r>
                    </a:p>
                  </a:txBody>
                  <a:tcPr marL="114300" marR="114300" marT="76200" marB="76200"/>
                </a:tc>
              </a:tr>
              <a:tr h="495300">
                <a:tc>
                  <a:txBody>
                    <a:bodyPr/>
                    <a:lstStyle/>
                    <a:p>
                      <a:r>
                        <a:rPr sz="1800">
                          <a:solidFill>
                            <a:srgbClr val="102536"/>
                          </a:solidFill>
                          <a:latin typeface="Arial"/>
                          <a:ea typeface="Arial"/>
                          <a:cs typeface="Arial"/>
                        </a:rPr>
                        <a:t>Automate responsibly</a:t>
                      </a:r>
                    </a:p>
                  </a:txBody>
                  <a:tcPr marL="114300" marR="114300" marT="76200" marB="76200"/>
                </a:tc>
                <a:tc>
                  <a:txBody>
                    <a:bodyPr/>
                    <a:lstStyle/>
                    <a:p>
                      <a:r>
                        <a:rPr sz="1800">
                          <a:solidFill>
                            <a:srgbClr val="102536"/>
                          </a:solidFill>
                          <a:latin typeface="Arial"/>
                          <a:ea typeface="Arial"/>
                          <a:cs typeface="Arial"/>
                        </a:rPr>
                        <a:t>Approval blueprints + reviewed AI</a:t>
                      </a:r>
                    </a:p>
                  </a:txBody>
                  <a:tcPr marL="114300" marR="114300" marT="76200" marB="76200"/>
                </a:tc>
              </a:tr>
              <a:tr h="495300">
                <a:tc>
                  <a:txBody>
                    <a:bodyPr/>
                    <a:lstStyle/>
                    <a:p>
                      <a:r>
                        <a:rPr sz="1800">
                          <a:solidFill>
                            <a:srgbClr val="102536"/>
                          </a:solidFill>
                          <a:latin typeface="Arial"/>
                          <a:ea typeface="Arial"/>
                          <a:cs typeface="Arial"/>
                        </a:rPr>
                        <a:t>Deliver change</a:t>
                      </a:r>
                    </a:p>
                  </a:txBody>
                  <a:tcPr marL="114300" marR="114300" marT="76200" marB="76200"/>
                </a:tc>
                <a:tc>
                  <a:txBody>
                    <a:bodyPr/>
                    <a:lstStyle/>
                    <a:p>
                      <a:r>
                        <a:rPr sz="1800">
                          <a:solidFill>
                            <a:srgbClr val="102536"/>
                          </a:solidFill>
                          <a:latin typeface="Arial"/>
                          <a:ea typeface="Arial"/>
                          <a:cs typeface="Arial"/>
                        </a:rPr>
                        <a:t>UAT + pilot + training + rollback</a:t>
                      </a:r>
                    </a:p>
                  </a:txBody>
                  <a:tcPr marL="114300" marR="114300" marT="76200" marB="76200"/>
                </a:tc>
              </a:tr>
              <a:tr h="495300">
                <a:tc>
                  <a:txBody>
                    <a:bodyPr/>
                    <a:lstStyle/>
                    <a:p>
                      <a:r>
                        <a:rPr sz="1800">
                          <a:solidFill>
                            <a:srgbClr val="102536"/>
                          </a:solidFill>
                          <a:latin typeface="Arial"/>
                          <a:ea typeface="Arial"/>
                          <a:cs typeface="Arial"/>
                        </a:rPr>
                        <a:t>Measure value</a:t>
                      </a:r>
                    </a:p>
                  </a:txBody>
                  <a:tcPr marL="114300" marR="114300" marT="76200" marB="76200"/>
                </a:tc>
                <a:tc>
                  <a:txBody>
                    <a:bodyPr/>
                    <a:lstStyle/>
                    <a:p>
                      <a:r>
                        <a:rPr sz="1800">
                          <a:solidFill>
                            <a:srgbClr val="102536"/>
                          </a:solidFill>
                          <a:latin typeface="Arial"/>
                          <a:ea typeface="Arial"/>
                          <a:cs typeface="Arial"/>
                        </a:rPr>
                        <a:t>KPI definitions + conservative business case</a:t>
                      </a:r>
                    </a:p>
                  </a:txBody>
                  <a:tcPr marL="114300" marR="114300" marT="76200" marB="76200"/>
                </a:tc>
              </a:tr>
            </a:tbl>
          </a:graphicData>
        </a:graphic>
      </p:graphicFrame>
      <p:sp>
        <p:nvSpPr>
          <p:cNvPr id="5" name="Design documented · Prototype simul">
            <a:extLst xmlns:a="http://schemas.openxmlformats.org/drawingml/2006/main">
              <a:ext uri="{FF2B5EF4-FFF2-40B4-BE49-F238E27FC236}">
                <a16:creationId xmlns:a16="http://schemas.microsoft.com/office/drawing/2014/main" id="{A9E1570D-6EF0-420D-955A-CCDB207BAD1E}"/>
              </a:ext>
            </a:extLst>
          </p:cNvPr>
          <p:cNvSpPr>
            <a:spLocks xmlns:a="http://schemas.openxmlformats.org/drawingml/2006/main" noGrp="1"/>
          </p:cNvSpPr>
          <p:nvPr/>
        </p:nvSpPr>
        <p:spPr>
          <a:xfrm xmlns:a="http://schemas.openxmlformats.org/drawingml/2006/main">
            <a:off x="6858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7382"/>
                </a:solidFill>
                <a:latin typeface="Arial"/>
                <a:ea typeface="Arial"/>
                <a:cs typeface="Arial"/>
              </a:defRPr>
            </a:pPr>
            <a:r>
              <a:rPr sz="1200" b="0">
                <a:solidFill>
                  <a:srgbClr val="5F7382"/>
                </a:solidFill>
                <a:latin typeface="Arial"/>
                <a:ea typeface="Arial"/>
                <a:cs typeface="Arial"/>
              </a:rPr>
              <a:t>Design documented · Prototype simulated · Enterprise validation pending</a:t>
            </a:r>
          </a:p>
        </p:txBody>
      </p:sp>
      <p:sp>
        <p:nvSpPr>
          <p:cNvPr id="6" name="08">
            <a:extLst xmlns:a="http://schemas.openxmlformats.org/drawingml/2006/main">
              <a:ext uri="{FF2B5EF4-FFF2-40B4-BE49-F238E27FC236}">
                <a16:creationId xmlns:a16="http://schemas.microsoft.com/office/drawing/2014/main" id="{CE402C8A-09F8-434E-A13E-4E8C76FDE8CB}"/>
              </a:ext>
            </a:extLst>
          </p:cNvPr>
          <p:cNvSpPr>
            <a:spLocks xmlns:a="http://schemas.openxmlformats.org/drawingml/2006/main" noGrp="1"/>
          </p:cNvSpPr>
          <p:nvPr/>
        </p:nvSpPr>
        <p:spPr>
          <a:xfrm xmlns:a="http://schemas.openxmlformats.org/drawingml/2006/main">
            <a:off x="11144250" y="628650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08</a:t>
            </a:r>
          </a:p>
        </p:txBody>
      </p:sp>
    </p:spTree>
    <p:extLst>
      <p:ext uri="{BB962C8B-B14F-4D97-AF65-F5344CB8AC3E}">
        <p14:creationId xmlns:p14="http://schemas.microsoft.com/office/powerpoint/2010/main" val="323610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2026-10-08T00:10:19.4990000Z</dcterms:created>
  <dcterms:modified xsi:type="dcterms:W3CDTF">2026-10-08T00:10:19.4990000Z</dcterms:modified>
</coreProperties>
</file>